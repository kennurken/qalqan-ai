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457200"/>
            <a:ext cx="1737360" cy="1737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6858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1F5F9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1F5F9"/>
                </a:solidFill>
                <a:latin typeface="Segoe UI"/>
              </a:defRPr>
            </a:pPr>
            <a:r>
              <a:t>QalqanAI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Segoe UI"/>
              </a:defRPr>
            </a:pPr>
            <a:r>
              <a:t>ИИ ассистент против киберугроз в интернет-среде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Научный семинар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Марукоб Елдос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Қызылорда,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Киберугрозы в Казахстане: масштаб проблемы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  <a:latin typeface="Segoe UI"/>
              </a:defRPr>
            </a:pPr>
            <a:r>
              <a:t>+340%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Рост фишинг-атак</a:t>
            </a:r>
            <a:br/>
            <a:r>
              <a:t>в КЗ за 2024-2025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Segoe UI"/>
              </a:defRPr>
            </a:pPr>
            <a:r>
              <a:t>₸12.8B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517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Ущерб от онлайн-</a:t>
            </a:r>
            <a:br/>
            <a:r>
              <a:t>мошенничества в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Segoe UI"/>
              </a:defRPr>
            </a:pPr>
            <a:r>
              <a:t>46+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Финансовых пирамид</a:t>
            </a:r>
            <a:br/>
            <a:r>
              <a:t>работающих в КЗ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Фишинг-сайтов</a:t>
            </a:r>
            <a:br/>
            <a:r>
              <a:t>младше 30 дней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Существующие решения (Google Safe Browsing, Kaspersky) не учитывают специфику</a:t>
            </a:r>
            <a:br/>
            <a:r>
              <a:t>казахстанского интернет-пространства: кириллические гомоглифы, казахоязычный</a:t>
            </a:r>
            <a:br/>
            <a:r>
              <a:t>фишинг, местные финансовые пирамиды, Telegram/WhatsApp мошенничество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QalqanAI: 5-уровневая система защиты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645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&lt;1ms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Cache +</a:t>
            </a:r>
            <a:br/>
            <a:r>
              <a:t>Whitelist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828800"/>
            <a:ext cx="16459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&lt;5ms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Pyramid DB</a:t>
            </a:r>
            <a:br/>
            <a:r>
              <a:t>(46 схем)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164592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&lt;10ms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ML Features</a:t>
            </a:r>
            <a:br/>
            <a:r>
              <a:t>(37 признаков)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828800"/>
            <a:ext cx="16459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&lt;500ms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Threat DBs</a:t>
            </a:r>
            <a:br/>
            <a:r>
              <a:t>(4 базы)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828800"/>
            <a:ext cx="16459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&lt;1s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Domain Intel</a:t>
            </a:r>
            <a:br/>
            <a:r>
              <a:t>(RDAP+SSL)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1828800"/>
            <a:ext cx="1645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0" y="1828800"/>
            <a:ext cx="16459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&lt;3s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Groq AI</a:t>
            </a:r>
            <a:br/>
            <a:r>
              <a:t>(14,400/day)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Каскадная архитектура: каждый следующий уровень задействуется</a:t>
            </a:r>
            <a:br/>
            <a:r>
              <a:t>только если предыдущий не дал вердикт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Groq Llama 3.1 8B — 14,400 req/day</a:t>
            </a:r>
            <a:br/>
            <a:r>
              <a:t>Gemini 2.5 Flash — backup + Vision</a:t>
            </a:r>
            <a:br/>
            <a:r>
              <a:t>Multi-provider fallback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PhishTank, Google Safe Browsing</a:t>
            </a:r>
            <a:br/>
            <a:r>
              <a:t>URLhaus, OpenPhish, RDAP</a:t>
            </a:r>
            <a:br/>
            <a:r>
              <a:t>SSL Check, Pyramid DB (46 схем)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ML Features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37 лексических URL-признаков</a:t>
            </a:r>
            <a:br/>
            <a:r>
              <a:t>Гомоглиф-детектор (Cyrillic↔Latin)</a:t>
            </a:r>
            <a:br/>
            <a:r>
              <a:t>Brand similarity (50 KZ брендов)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Chrome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Manifest V3, React 19</a:t>
            </a:r>
            <a:br/>
            <a:r>
              <a:t>Auto-check каждой страницы</a:t>
            </a:r>
            <a:br/>
            <a:r>
              <a:t>Блокировка + уведомления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XAI (Explainability)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Factor breakdown каждого вердикта</a:t>
            </a:r>
            <a:br/>
            <a:r>
              <a:t>Counterfactual explanations</a:t>
            </a:r>
            <a:br/>
            <a:r>
              <a:t>Confidence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API &amp;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на Vercel Serverless</a:t>
            </a:r>
            <a:br/>
            <a:r>
              <a:t>Rate Limiting, Input Validation</a:t>
            </a:r>
            <a:br/>
            <a:r>
              <a:t>3 языка: қаз / рус / eng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ML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37 признаков URL-анализа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Лексические 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// Извлечение за &lt;10ms без HTTP запроса</a:t>
            </a:r>
            <a:br/>
            <a:r>
              <a:t>{</a:t>
            </a:r>
            <a:br/>
            <a:r>
              <a:t>  "url_entropy": 4.27,        // Shannon entropy</a:t>
            </a:r>
            <a:br/>
            <a:r>
              <a:t>  "is_free_tld": 1,           // .tk, .ml, .ga</a:t>
            </a:r>
            <a:br/>
            <a:r>
              <a:t>  "num_subdomains": 3,</a:t>
            </a:r>
            <a:br/>
            <a:r>
              <a:t>  "suspicious_keywords": ["login", "verify"],</a:t>
            </a:r>
            <a:br/>
            <a:r>
              <a:t>  "has_punycode": 0,</a:t>
            </a:r>
            <a:br/>
            <a:r>
              <a:t>  "digit_ratio": 0.12,</a:t>
            </a:r>
            <a:br/>
            <a:r>
              <a:t>  "brand_match": "kaspi",</a:t>
            </a:r>
            <a:br/>
            <a:r>
              <a:t>  "brand_edit_distance": 2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949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Гомоглиф-детекция (уникально для КЗ)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// Cyrillic "а" (U+0430) vs Latin "a" (U+0061)</a:t>
            </a:r>
            <a:br/>
            <a:r>
              <a:t>// kаspi.kz → визуально = kaspi.kz</a:t>
            </a:r>
            <a:br/>
            <a:br/>
            <a:r>
              <a:t>{</a:t>
            </a:r>
            <a:br/>
            <a:r>
              <a:t>  "homoglyph_count": 1,</a:t>
            </a:r>
            <a:br/>
            <a:r>
              <a:t>  "has_mixed_script": 1,</a:t>
            </a:r>
            <a:br/>
            <a:r>
              <a:t>  "homoglyph_chars": ["а→a"],</a:t>
            </a:r>
            <a:br/>
            <a:r>
              <a:t>  "brand_match": "kaspi",</a:t>
            </a:r>
            <a:br/>
            <a:r>
              <a:t>  "brand_edit_distance": 0</a:t>
            </a:r>
            <a:br/>
            <a:r>
              <a:t>}</a:t>
            </a:r>
            <a:br/>
            <a:br/>
            <a:r>
              <a:t>// Результат: +25 к threat_score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EXPLAINABILITY (XAI)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Объяснимый ИИ: почему сайт опасен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4183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❌ DANGEROUS — 87/100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Domain age: 3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423160"/>
            <a:ext cx="4114800" cy="27432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2423160"/>
            <a:ext cx="288036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2377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+35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No SSL certificate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926080"/>
            <a:ext cx="4114800" cy="27432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2926080"/>
            <a:ext cx="246888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+30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Brand similarity: kaspi (dist=2)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429000"/>
            <a:ext cx="4114800" cy="27432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3429000"/>
            <a:ext cx="2057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+15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Suspicious keywords: login, 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931920"/>
            <a:ext cx="4114800" cy="27432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3931920"/>
            <a:ext cx="12344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+10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AI verdict: DANGEROUS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434840"/>
            <a:ext cx="4114800" cy="27432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4434840"/>
            <a:ext cx="576072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389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+7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029200"/>
            <a:ext cx="8503920" cy="73152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Counterfactual: Сайт был бы SAFE (score &lt;40) если:</a:t>
            </a:r>
            <a:br/>
            <a:r>
              <a:t>домен старше 365 дней И имеет SSL сертификат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Эффективность детекции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Тест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Вердикт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Источник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Время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247120" cy="4572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Whitelist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kaspi.kz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whitelist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&lt;1ms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Пирамида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crowd1.com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DANGEROUS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pyramid_list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&lt;5ms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Пирамида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finiko.com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DANGEROUS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pyramid_list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&lt;5ms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Gambling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1xbet.com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DANGEROUS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20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groq_ai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31920"/>
            <a:ext cx="11247120" cy="4572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77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Free TLD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kaspi-login.tk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SUSPICIOUS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977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groq_ai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977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ftp://bad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REJECTED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&lt;1ms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СРАВНИТЕЛЬНЫЙ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QalqanAI vs Конкуренты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Функция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3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Google 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Kaspersky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Netcraft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QalqanAI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438912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Фишинг детекция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AI анализ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Частично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87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Groq+Gemini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80944"/>
            <a:ext cx="11247120" cy="438912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26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Пирамиды / MLM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026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46 схем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655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Казахский язык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39" y="3465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465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465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465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kk/ru/en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58768"/>
            <a:ext cx="11247120" cy="438912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044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Гомоглифы Cyrillic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3904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904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904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9044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7 пар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XAI объяснения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39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Factor+CF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736592"/>
            <a:ext cx="11247120" cy="438912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ML Features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39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782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✅ 37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2212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Стоимость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39" y="5221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221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$30/год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221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221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Free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НАУЧНАЯ НОВИЗНА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Что отличает QalqanAI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🇰🇿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Первая система для КЗ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50 казахстанских брендов в базе</a:t>
            </a:r>
            <a:br/>
            <a:r>
              <a:t>46 пирамидных схем с фокусом на КЗ</a:t>
            </a:r>
            <a:br/>
            <a:r>
              <a:t>kk/ru/en интерфейс</a:t>
            </a:r>
            <a:br/>
            <a:r>
              <a:t>Паттерны eGov/Kaspi фишинга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Гомоглиф-детекция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Cyrillic↔Latin подмена символов</a:t>
            </a:r>
            <a:br/>
            <a:r>
              <a:t>а/a, е/e, о/o, с/c, р/p, у/y, х/x</a:t>
            </a:r>
            <a:br/>
            <a:r>
              <a:t>Критично для кириллических доменов</a:t>
            </a:r>
            <a:br/>
            <a:r>
              <a:t>Нет аналогов в мире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Multi-Source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7+ источников разведки в одном pipeline</a:t>
            </a:r>
            <a:br/>
            <a:r>
              <a:t>Каскадная архитектура</a:t>
            </a:r>
            <a:br/>
            <a:r>
              <a:t>Dempster-Shafer подход</a:t>
            </a:r>
            <a:br/>
            <a:r>
              <a:t>Research API для бенчмарков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Explainable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SHAP-подобные объяснения</a:t>
            </a:r>
            <a:br/>
            <a:r>
              <a:t>Counterfactual reasoning</a:t>
            </a:r>
            <a:br/>
            <a:r>
              <a:t>Factor breakdown + impact scores</a:t>
            </a:r>
            <a:br/>
            <a:r>
              <a:t>Публикуемо: IEEE TIFS, ACM CCS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Live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// POST https://qalqan-ai-nu.vercel.app/check-research</a:t>
            </a:r>
            <a:br/>
            <a:br/>
            <a:r>
              <a:t>{</a:t>
            </a:r>
            <a:br/>
            <a:r>
              <a:t>  "verdict": "DANGEROUS",</a:t>
            </a:r>
            <a:br/>
            <a:r>
              <a:t>  "threat_score": 87,</a:t>
            </a:r>
            <a:br/>
            <a:r>
              <a:t>  "url_features": {          // 37 ML признаков</a:t>
            </a:r>
            <a:br/>
            <a:r>
              <a:t>    "url_entropy": 4.27,</a:t>
            </a:r>
            <a:br/>
            <a:r>
              <a:t>    "is_free_tld": 1,</a:t>
            </a:r>
            <a:br/>
            <a:r>
              <a:t>    "brand_match": "kaspi",</a:t>
            </a:r>
            <a:br/>
            <a:r>
              <a:t>    "homoglyph_count": 1</a:t>
            </a:r>
            <a:br/>
            <a:r>
              <a:t>  },</a:t>
            </a:r>
            <a:br/>
            <a:r>
              <a:t>  "explanation": {            // XAI</a:t>
            </a:r>
            <a:br/>
            <a:r>
              <a:t>    "top_factors": [...],</a:t>
            </a:r>
            <a:br/>
            <a:r>
              <a:t>    "counterfactual": "SAFE if domain &gt; 365 days",</a:t>
            </a:r>
            <a:br/>
            <a:r>
              <a:t>    "confidence": 0.87</a:t>
            </a:r>
            <a:br/>
            <a:r>
              <a:t>  },</a:t>
            </a:r>
            <a:br/>
            <a:r>
              <a:t>  "metadata": {</a:t>
            </a:r>
            <a:br/>
            <a:r>
              <a:t>    "processing_time_ms": 1243,</a:t>
            </a:r>
            <a:br/>
            <a:r>
              <a:t>    "ai_provider": "groq_ai"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943600"/>
            <a:ext cx="3200400" cy="4572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🌐 qalqan-ai-nu.vercel.app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943600"/>
            <a:ext cx="3200400" cy="4572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📦 Kennurken/qalqan-ai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ПЕРСПЕКТИВЫ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Направления исследований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Dataset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Первый казахский фишинг-датасет</a:t>
            </a:r>
            <a:br/>
            <a:r>
              <a:t>NeurIPS Datasets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XLM-RoBERTa на kk/ru/en</a:t>
            </a:r>
            <a:br/>
            <a:r>
              <a:t>ACL/EMNLP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User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Влияние XAI на поведение</a:t>
            </a:r>
            <a:br/>
            <a:r>
              <a:t>CHI/SOUPS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Temporal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Zero-day фишинг</a:t>
            </a:r>
            <a:br/>
            <a:r>
              <a:t>Temporal split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Economic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Модель снижения ущерба</a:t>
            </a:r>
            <a:br/>
            <a:r>
              <a:t>в Казахстане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204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31546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Android/iOS extension</a:t>
            </a:r>
            <a:br/>
            <a:r>
              <a:t>Для мобильных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731520"/>
            <a:ext cx="1737360" cy="1737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9601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0">
                <a:solidFill>
                  <a:srgbClr val="F1F5F9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Segoe UI"/>
              </a:defRPr>
            </a:pPr>
            <a:r>
              <a:t>Назарларыңызға рахмет!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Kennurken/qalqan-ai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Live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qalqan-ai-nu.vercel.app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kmarukob76@gmail.com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Qalqan AI v5.0 • Made in Kazakhstan 🇰🇿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