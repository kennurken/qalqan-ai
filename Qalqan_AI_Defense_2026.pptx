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0" i="0">
                <a:solidFill>
                  <a:srgbClr val="F8FAFC"/>
                </a:solidFill>
                <a:latin typeface="Segoe UI"/>
              </a:rPr>
              <a:t>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74519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8FAFC"/>
                </a:solidFill>
                <a:latin typeface="Segoe UI"/>
              </a:rPr>
              <a:t>QALQAN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28803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D4FF"/>
                </a:solidFill>
                <a:latin typeface="Segoe UI"/>
              </a:rPr>
              <a:t>Қазақстандық киберқауіпсіздік + экономикалық қауіптерден қорғаныс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33832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Азамат үшін алғашқы тегін, нақты уақыттағы алаяқтыққа қарсы есік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19" y="3977639"/>
            <a:ext cx="4005072" cy="292608"/>
          </a:xfrm>
          <a:prstGeom prst="rect">
            <a:avLst/>
          </a:prstGeom>
          <a:solidFill>
            <a:srgbClr val="0E203D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84247" y="4009643"/>
            <a:ext cx="40050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3B82F6"/>
                </a:solidFill>
                <a:latin typeface="Segoe UI"/>
              </a:rPr>
              <a:t>ДЭР республикалық байқауы ·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3977639"/>
            <a:ext cx="1376172" cy="292608"/>
          </a:xfrm>
          <a:prstGeom prst="rect">
            <a:avLst/>
          </a:prstGeom>
          <a:solidFill>
            <a:srgbClr val="22173D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8" y="4009643"/>
            <a:ext cx="13761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8B5CF6"/>
                </a:solidFill>
                <a:latin typeface="Segoe UI"/>
              </a:rPr>
              <a:t>Қызылорда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617720"/>
            <a:ext cx="7315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1">
                <a:solidFill>
                  <a:srgbClr val="F8FAFC"/>
                </a:solidFill>
                <a:latin typeface="Segoe UI"/>
              </a:rPr>
              <a:t>Команда: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94A3B8"/>
                </a:solidFill>
                <a:latin typeface="Segoe UI"/>
              </a:rPr>
              <a:t>Барахат Мұхтар — AITU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94A3B8"/>
                </a:solidFill>
                <a:latin typeface="Segoe UI"/>
              </a:rPr>
              <a:t>Қыдырбек Елдос — Қорқыт Ата атындағы университет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Segoe UI"/>
              </a:rPr>
              <a:t>qalqan-ai-nu.vercel.app   ·   @QalqanAI_bot   ·   github.com/Kennurken/qalqan-ai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1033271" cy="292608"/>
          </a:xfrm>
          <a:prstGeom prst="rect">
            <a:avLst/>
          </a:prstGeom>
          <a:solidFill>
            <a:srgbClr val="3B1111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489204"/>
            <a:ext cx="1033271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EF4444"/>
                </a:solidFill>
                <a:latin typeface="Segoe UI"/>
              </a:rPr>
              <a:t>МӘСЕЛЕ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Segoe UI"/>
              </a:rPr>
              <a:t>Қазақстан жыл сайын миллиардтарды жоғалтады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Segoe UI"/>
              </a:rPr>
              <a:t>Кибералаяқтық — нақты, өлшенетін экономикалық қауіп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38528"/>
            <a:ext cx="1828800" cy="411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331720"/>
            <a:ext cx="3611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100" b="1" i="0">
                <a:solidFill>
                  <a:srgbClr val="EF4444"/>
                </a:solidFill>
                <a:latin typeface="Segoe UI"/>
              </a:rPr>
              <a:t>16.4 млрд 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08376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Киберзиян (2025, 10 ай) — 2024-ке ×29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331720"/>
            <a:ext cx="3611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100" b="1" i="0">
                <a:solidFill>
                  <a:srgbClr val="F59E0B"/>
                </a:solidFill>
                <a:latin typeface="Segoe UI"/>
              </a:rPr>
              <a:t>26 300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3008376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Интернет-алаяқтық кейсі (+86% жылдық)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331720"/>
            <a:ext cx="3611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100" b="1" i="0">
                <a:solidFill>
                  <a:srgbClr val="3B82F6"/>
                </a:solidFill>
                <a:latin typeface="Segoe UI"/>
              </a:rPr>
              <a:t>85 млн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008376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Бұғатталған алаяқ қоңырау (2025)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069080"/>
            <a:ext cx="3611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100" b="1" i="0">
                <a:solidFill>
                  <a:srgbClr val="EF4444"/>
                </a:solidFill>
                <a:latin typeface="Segoe UI"/>
              </a:rPr>
              <a:t>54 млрд 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745736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Қаржылық пирамидалардан зиян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4069080"/>
            <a:ext cx="3611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100" b="1" i="0">
                <a:solidFill>
                  <a:srgbClr val="F59E0B"/>
                </a:solidFill>
                <a:latin typeface="Segoe UI"/>
              </a:rPr>
              <a:t>31 000+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745736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Пирамида құрбаны (бір жылда)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069080"/>
            <a:ext cx="3611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100" b="1" i="0">
                <a:solidFill>
                  <a:srgbClr val="10B981"/>
                </a:solidFill>
                <a:latin typeface="Segoe UI"/>
              </a:rPr>
              <a:t>5 схема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745736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= барлық алаяқтықтың 81%-ы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Segoe UI"/>
              </a:rPr>
              <a:t>Дереккөздер: Нацбанк Антифрод-орталығы, АРРФР/АФМ, телеком операторлары (2025)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1147572" cy="292608"/>
          </a:xfrm>
          <a:prstGeom prst="rect">
            <a:avLst/>
          </a:prstGeom>
          <a:solidFill>
            <a:srgbClr val="3D2702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489204"/>
            <a:ext cx="11475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F59E0B"/>
                </a:solidFill>
                <a:latin typeface="Segoe UI"/>
              </a:rPr>
              <a:t>ОЛҚЫЛЫҚ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Segoe UI"/>
              </a:rPr>
              <a:t>Бүгінгі қорғаныстың бәрі — азаматқа жетпейді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38528"/>
            <a:ext cx="1828800" cy="411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286000"/>
            <a:ext cx="3611880" cy="3108960"/>
          </a:xfrm>
          <a:prstGeom prst="rect">
            <a:avLst/>
          </a:prstGeom>
          <a:solidFill>
            <a:srgbClr val="0D142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286000"/>
            <a:ext cx="3611880" cy="411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32304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Segoe UI"/>
              </a:rPr>
              <a:t>🏦  BACK-END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017520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926080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Банк/телеком ішкі антифрод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520440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429000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Транзакцияны блоктайды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023360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931920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Азамат сұрай алмайды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526280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434840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Жабық, әр банкте бөлек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2286000"/>
            <a:ext cx="3611880" cy="3108960"/>
          </a:xfrm>
          <a:prstGeom prst="rect">
            <a:avLst/>
          </a:prstGeom>
          <a:solidFill>
            <a:srgbClr val="0D142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2286000"/>
            <a:ext cx="3611880" cy="411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2432304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Segoe UI"/>
              </a:rPr>
              <a:t>⏱️  РЕАКТИВТІ</a:t>
            </a:r>
          </a:p>
        </p:txBody>
      </p:sp>
      <p:sp>
        <p:nvSpPr>
          <p:cNvPr id="21" name="Oval 20"/>
          <p:cNvSpPr/>
          <p:nvPr/>
        </p:nvSpPr>
        <p:spPr>
          <a:xfrm>
            <a:off x="4480560" y="301752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2926080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Сот шешімі бойынша тізім</a:t>
            </a:r>
          </a:p>
        </p:txBody>
      </p:sp>
      <p:sp>
        <p:nvSpPr>
          <p:cNvPr id="23" name="Oval 22"/>
          <p:cNvSpPr/>
          <p:nvPr/>
        </p:nvSpPr>
        <p:spPr>
          <a:xfrm>
            <a:off x="4480560" y="352044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429000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Баяу, оқиғадан кейін</a:t>
            </a:r>
          </a:p>
        </p:txBody>
      </p:sp>
      <p:sp>
        <p:nvSpPr>
          <p:cNvPr id="25" name="Oval 24"/>
          <p:cNvSpPr/>
          <p:nvPr/>
        </p:nvSpPr>
        <p:spPr>
          <a:xfrm>
            <a:off x="4480560" y="402336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3931920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Жаңа домен ілінбейді</a:t>
            </a:r>
          </a:p>
        </p:txBody>
      </p:sp>
      <p:sp>
        <p:nvSpPr>
          <p:cNvPr id="27" name="Oval 26"/>
          <p:cNvSpPr/>
          <p:nvPr/>
        </p:nvSpPr>
        <p:spPr>
          <a:xfrm>
            <a:off x="4480560" y="452628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4434840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Алдын алу жоқ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2440" y="2286000"/>
            <a:ext cx="3611880" cy="3108960"/>
          </a:xfrm>
          <a:prstGeom prst="rect">
            <a:avLst/>
          </a:prstGeom>
          <a:solidFill>
            <a:srgbClr val="0D142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92440" y="2286000"/>
            <a:ext cx="3611880" cy="4114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20" y="2432304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Segoe UI"/>
              </a:rPr>
              <a:t>📄  СТАТИКАЛЫҚ</a:t>
            </a:r>
          </a:p>
        </p:txBody>
      </p:sp>
      <p:sp>
        <p:nvSpPr>
          <p:cNvPr id="32" name="Oval 31"/>
          <p:cNvSpPr/>
          <p:nvPr/>
        </p:nvSpPr>
        <p:spPr>
          <a:xfrm>
            <a:off x="8275320" y="3017520"/>
            <a:ext cx="91440" cy="9144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58200" y="2926080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АФМ пирамида тізімі — PDF</a:t>
            </a:r>
          </a:p>
        </p:txBody>
      </p:sp>
      <p:sp>
        <p:nvSpPr>
          <p:cNvPr id="34" name="Oval 33"/>
          <p:cNvSpPr/>
          <p:nvPr/>
        </p:nvSpPr>
        <p:spPr>
          <a:xfrm>
            <a:off x="8275320" y="3520440"/>
            <a:ext cx="91440" cy="9144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58200" y="3429000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Эксперт үшін, азамат көрмейді</a:t>
            </a:r>
          </a:p>
        </p:txBody>
      </p:sp>
      <p:sp>
        <p:nvSpPr>
          <p:cNvPr id="36" name="Oval 35"/>
          <p:cNvSpPr/>
          <p:nvPr/>
        </p:nvSpPr>
        <p:spPr>
          <a:xfrm>
            <a:off x="8275320" y="4023360"/>
            <a:ext cx="91440" cy="9144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58200" y="3931920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API жоқ, нақты уақыт жоқ</a:t>
            </a:r>
          </a:p>
        </p:txBody>
      </p:sp>
      <p:sp>
        <p:nvSpPr>
          <p:cNvPr id="38" name="Oval 37"/>
          <p:cNvSpPr/>
          <p:nvPr/>
        </p:nvSpPr>
        <p:spPr>
          <a:xfrm>
            <a:off x="8275320" y="4526280"/>
            <a:ext cx="91440" cy="9144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58200" y="4434840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Шашыраңқы дереккөздер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5623560"/>
            <a:ext cx="11201400" cy="777240"/>
          </a:xfrm>
          <a:prstGeom prst="rect">
            <a:avLst/>
          </a:prstGeom>
          <a:solidFill>
            <a:srgbClr val="0F172A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57790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8FAFC"/>
                </a:solidFill>
                <a:latin typeface="Segoe UI"/>
              </a:rPr>
              <a:t>❗ Азамат сілтемені / нөмірді / SMS-ті / инвест-ұсынысты тексеретін тегін, көпшілік, нақты уақыт құралы ЖОҚ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918971" cy="292608"/>
          </a:xfrm>
          <a:prstGeom prst="rect">
            <a:avLst/>
          </a:prstGeom>
          <a:solidFill>
            <a:srgbClr val="00353F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489204"/>
            <a:ext cx="918971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  <a:latin typeface="Segoe UI"/>
              </a:rPr>
              <a:t>ШЕШІМ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Segoe UI"/>
              </a:rPr>
              <a:t>Qalqan — азаматтың алғашқы қорғаныс есігі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Segoe UI"/>
              </a:rPr>
              <a:t>Қазақстанның шашыраңқы антифрод-деректерін бір қауіпсіздік тексеруіне айналдырады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38528"/>
            <a:ext cx="1828800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331720"/>
            <a:ext cx="3566160" cy="1417320"/>
          </a:xfrm>
          <a:prstGeom prst="rect">
            <a:avLst/>
          </a:prstGeom>
          <a:solidFill>
            <a:srgbClr val="0D142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331720"/>
            <a:ext cx="3566160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7802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Segoe UI"/>
              </a:rPr>
              <a:t>🔗 URL / сайт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260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Segoe UI"/>
              </a:rPr>
              <a:t>Фишинг, клон, homoglyph (kаspi.kz)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0248" y="2331720"/>
            <a:ext cx="3566160" cy="1417320"/>
          </a:xfrm>
          <a:prstGeom prst="rect">
            <a:avLst/>
          </a:prstGeom>
          <a:solidFill>
            <a:srgbClr val="0D142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0248" y="2331720"/>
            <a:ext cx="3566160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247802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Segoe UI"/>
              </a:rPr>
              <a:t>📞 Телефон +7 7xx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29260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Segoe UI"/>
              </a:rPr>
              <a:t>Скам-префикс, паттерн талдау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7576" y="2331720"/>
            <a:ext cx="3566160" cy="1417320"/>
          </a:xfrm>
          <a:prstGeom prst="rect">
            <a:avLst/>
          </a:prstGeom>
          <a:solidFill>
            <a:srgbClr val="0D142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37576" y="2331720"/>
            <a:ext cx="3566160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0456" y="247802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Segoe UI"/>
              </a:rPr>
              <a:t>💬 SMS / хабарлама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0456" y="29260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Segoe UI"/>
              </a:rPr>
              <a:t>Алаяқ сілтеме + мәтін талдау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931920"/>
            <a:ext cx="3566160" cy="1417320"/>
          </a:xfrm>
          <a:prstGeom prst="rect">
            <a:avLst/>
          </a:prstGeom>
          <a:solidFill>
            <a:srgbClr val="0D142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931920"/>
            <a:ext cx="3566160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07822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Segoe UI"/>
              </a:rPr>
              <a:t>💰 Қаржылық пирамида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5262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Segoe UI"/>
              </a:rPr>
              <a:t>АФМ реестрі + атау бойынша іздеу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70248" y="3931920"/>
            <a:ext cx="3566160" cy="1417320"/>
          </a:xfrm>
          <a:prstGeom prst="rect">
            <a:avLst/>
          </a:prstGeom>
          <a:solidFill>
            <a:srgbClr val="0D142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70248" y="3931920"/>
            <a:ext cx="3566160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53128" y="407822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Segoe UI"/>
              </a:rPr>
              <a:t>🏛️ Госзакуп-фрод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53128" y="45262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Segoe UI"/>
              </a:rPr>
              <a:t>Жалған тендер/жеткізуші белгілері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37576" y="3931920"/>
            <a:ext cx="3566160" cy="1417320"/>
          </a:xfrm>
          <a:prstGeom prst="rect">
            <a:avLst/>
          </a:prstGeom>
          <a:solidFill>
            <a:srgbClr val="0D142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6" y="3931920"/>
            <a:ext cx="3566160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0456" y="407822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Segoe UI"/>
              </a:rPr>
              <a:t>🌐 3 тіл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0456" y="45262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Segoe UI"/>
              </a:rPr>
              <a:t>Қазақша / орысша / ағылшынша вердикт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897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Segoe UI"/>
              </a:rPr>
              <a:t>Жеткізу: Chrome / Firefox кеңейтімі  +  Telegram бот — алаяқтық болатын жерде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1833372" cy="292608"/>
          </a:xfrm>
          <a:prstGeom prst="rect">
            <a:avLst/>
          </a:prstGeom>
          <a:solidFill>
            <a:srgbClr val="042E20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489204"/>
            <a:ext cx="18333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  <a:latin typeface="Segoe UI"/>
              </a:rPr>
              <a:t>ІСКЕ ҚОСЫЛҒАН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Segoe UI"/>
              </a:rPr>
              <a:t>6 функция — бәрі live, продакшенде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38528"/>
            <a:ext cx="1828800" cy="411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286000"/>
            <a:ext cx="3566160" cy="1508760"/>
          </a:xfrm>
          <a:prstGeom prst="rect">
            <a:avLst/>
          </a:prstGeom>
          <a:solidFill>
            <a:srgbClr val="0D142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286000"/>
            <a:ext cx="3566160" cy="411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3230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8FAFC"/>
                </a:solidFill>
                <a:latin typeface="Segoe UI"/>
              </a:rPr>
              <a:t>Homoglyph / typosquat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52928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kаspi.kz (кирилл) → ҚАУІПТІ. KZ брендтерінің клондары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2286000"/>
            <a:ext cx="3566160" cy="1508760"/>
          </a:xfrm>
          <a:prstGeom prst="rect">
            <a:avLst/>
          </a:prstGeom>
          <a:solidFill>
            <a:srgbClr val="0D142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0248" y="2286000"/>
            <a:ext cx="3566160" cy="411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243230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8FAFC"/>
                </a:solidFill>
                <a:latin typeface="Segoe UI"/>
              </a:rPr>
              <a:t>АФМ-пирамида чек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2852928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Атау бойынша: «Финико» → реестрде тіркелген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37576" y="2286000"/>
            <a:ext cx="3566160" cy="1508760"/>
          </a:xfrm>
          <a:prstGeom prst="rect">
            <a:avLst/>
          </a:prstGeom>
          <a:solidFill>
            <a:srgbClr val="0D142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6" y="2286000"/>
            <a:ext cx="3566160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0456" y="243230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8FAFC"/>
                </a:solidFill>
                <a:latin typeface="Segoe UI"/>
              </a:rPr>
              <a:t>Госзакуп-фрод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0456" y="2852928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goszakup.gov.kz — 10 ереже бойынша талдау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977639"/>
            <a:ext cx="3566160" cy="1508760"/>
          </a:xfrm>
          <a:prstGeom prst="rect">
            <a:avLst/>
          </a:prstGeom>
          <a:solidFill>
            <a:srgbClr val="0D142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977639"/>
            <a:ext cx="3566160" cy="411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123943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8FAFC"/>
                </a:solidFill>
                <a:latin typeface="Segoe UI"/>
              </a:rPr>
              <a:t>Community voting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544567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Краудсорс: растау/жоққа шығару → авто-блок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977639"/>
            <a:ext cx="3566160" cy="1508760"/>
          </a:xfrm>
          <a:prstGeom prst="rect">
            <a:avLst/>
          </a:prstGeom>
          <a:solidFill>
            <a:srgbClr val="0D142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70248" y="3977639"/>
            <a:ext cx="3566160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53128" y="4123943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8FAFC"/>
                </a:solidFill>
                <a:latin typeface="Segoe UI"/>
              </a:rPr>
              <a:t>Threat-feeds + KZ-фид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3128" y="4544567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URLhaus live ингест + /feed/kz (CC-BY, ашық)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37576" y="3977639"/>
            <a:ext cx="3566160" cy="1508760"/>
          </a:xfrm>
          <a:prstGeom prst="rect">
            <a:avLst/>
          </a:prstGeom>
          <a:solidFill>
            <a:srgbClr val="0D142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37576" y="3977639"/>
            <a:ext cx="3566160" cy="411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0456" y="4123943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8FAFC"/>
                </a:solidFill>
                <a:latin typeface="Segoe UI"/>
              </a:rPr>
              <a:t>Регулятор дашборды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0456" y="4544567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KZ облыстары бойынша қауіп жылу-картасы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989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0B981"/>
                </a:solidFill>
                <a:latin typeface="Segoe UI"/>
              </a:rPr>
              <a:t>✅ 80 автотест + CI  ·  6-деңгейлі pipeline  ·  Vercel + Supabase + Upstash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1947672" cy="292608"/>
          </a:xfrm>
          <a:prstGeom prst="rect">
            <a:avLst/>
          </a:prstGeom>
          <a:solidFill>
            <a:srgbClr val="3B1111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489204"/>
            <a:ext cx="19476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EF4444"/>
                </a:solidFill>
                <a:latin typeface="Segoe UI"/>
              </a:rPr>
              <a:t>РЕГУЛЯТОР ҮШІН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Segoe UI"/>
              </a:rPr>
              <a:t>KZ нақты уақыттағы қауіп картасы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Segoe UI"/>
              </a:rPr>
              <a:t>Облыстар бойынша скам жылу-картасы — анонимді (url_hash/ip_hash)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38528"/>
            <a:ext cx="1828800" cy="411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331720"/>
            <a:ext cx="2560320" cy="777240"/>
          </a:xfrm>
          <a:prstGeom prst="rect">
            <a:avLst/>
          </a:prstGeom>
          <a:solidFill>
            <a:srgbClr val="EF4444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328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8FAFC"/>
                </a:solidFill>
                <a:latin typeface="Segoe UI"/>
              </a:rPr>
              <a:t>Алматы қ.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2331720"/>
            <a:ext cx="2560320" cy="777240"/>
          </a:xfrm>
          <a:prstGeom prst="rect">
            <a:avLst/>
          </a:prstGeom>
          <a:solidFill>
            <a:srgbClr val="EF4444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5328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8FAFC"/>
                </a:solidFill>
                <a:latin typeface="Segoe UI"/>
              </a:rPr>
              <a:t>Астана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2331720"/>
            <a:ext cx="2560320" cy="777240"/>
          </a:xfrm>
          <a:prstGeom prst="rect">
            <a:avLst/>
          </a:prstGeom>
          <a:solidFill>
            <a:srgbClr val="F59E0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5328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8FAFC"/>
                </a:solidFill>
                <a:latin typeface="Segoe UI"/>
              </a:rPr>
              <a:t>Шымкент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32520" y="2331720"/>
            <a:ext cx="2560320" cy="777240"/>
          </a:xfrm>
          <a:prstGeom prst="rect">
            <a:avLst/>
          </a:prstGeom>
          <a:solidFill>
            <a:srgbClr val="F59E0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0" y="25328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8FAFC"/>
                </a:solidFill>
                <a:latin typeface="Segoe UI"/>
              </a:rPr>
              <a:t>Қарағанды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246120"/>
            <a:ext cx="2560320" cy="777240"/>
          </a:xfrm>
          <a:prstGeom prst="rect">
            <a:avLst/>
          </a:prstGeom>
          <a:solidFill>
            <a:srgbClr val="F59E0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4472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8FAFC"/>
                </a:solidFill>
                <a:latin typeface="Segoe UI"/>
              </a:rPr>
              <a:t>Түркістан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3246120"/>
            <a:ext cx="2560320" cy="777240"/>
          </a:xfrm>
          <a:prstGeom prst="rect">
            <a:avLst/>
          </a:prstGeom>
          <a:solidFill>
            <a:srgbClr val="3B82F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34472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8FAFC"/>
                </a:solidFill>
                <a:latin typeface="Segoe UI"/>
              </a:rPr>
              <a:t>Атырау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3246120"/>
            <a:ext cx="2560320" cy="777240"/>
          </a:xfrm>
          <a:prstGeom prst="rect">
            <a:avLst/>
          </a:prstGeom>
          <a:solidFill>
            <a:srgbClr val="3B82F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34472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8FAFC"/>
                </a:solidFill>
                <a:latin typeface="Segoe UI"/>
              </a:rPr>
              <a:t>Маңғыстау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32520" y="3246120"/>
            <a:ext cx="2560320" cy="777240"/>
          </a:xfrm>
          <a:prstGeom prst="rect">
            <a:avLst/>
          </a:prstGeom>
          <a:solidFill>
            <a:srgbClr val="3B82F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34472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8FAFC"/>
                </a:solidFill>
                <a:latin typeface="Segoe UI"/>
              </a:rPr>
              <a:t>Ақтөбе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160520"/>
            <a:ext cx="2560320" cy="77724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3616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8FAFC"/>
                </a:solidFill>
                <a:latin typeface="Segoe UI"/>
              </a:rPr>
              <a:t>Павлодар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6120" y="4160520"/>
            <a:ext cx="2560320" cy="77724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80" y="43616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8FAFC"/>
                </a:solidFill>
                <a:latin typeface="Segoe UI"/>
              </a:rPr>
              <a:t>ШҚО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4160520"/>
            <a:ext cx="2560320" cy="777240"/>
          </a:xfrm>
          <a:prstGeom prst="rect">
            <a:avLst/>
          </a:prstGeom>
          <a:solidFill>
            <a:srgbClr val="F59E0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43616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8FAFC"/>
                </a:solidFill>
                <a:latin typeface="Segoe UI"/>
              </a:rPr>
              <a:t>Қызылорда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32520" y="4160520"/>
            <a:ext cx="2560320" cy="777240"/>
          </a:xfrm>
          <a:prstGeom prst="rect">
            <a:avLst/>
          </a:prstGeom>
          <a:solidFill>
            <a:srgbClr val="3B82F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0" y="43616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8FAFC"/>
                </a:solidFill>
                <a:latin typeface="Segoe UI"/>
              </a:rPr>
              <a:t>Жамбыл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989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Segoe UI"/>
              </a:rPr>
              <a:t>Жүйе Vercel geo-деректерінен облысты анықтайды → регулятор үшін эконом-қауіп панелі (ДЭР тақырыбына тура)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1604772" cy="292608"/>
          </a:xfrm>
          <a:prstGeom prst="rect">
            <a:avLst/>
          </a:prstGeom>
          <a:solidFill>
            <a:srgbClr val="0E203D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489204"/>
            <a:ext cx="16047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3B82F6"/>
                </a:solidFill>
                <a:latin typeface="Segoe UI"/>
              </a:rPr>
              <a:t>АРХИТЕКТУРА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Segoe UI"/>
              </a:rPr>
              <a:t>6-деңгейлі анықтау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38528"/>
            <a:ext cx="1828800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377440"/>
            <a:ext cx="1737360" cy="1280160"/>
          </a:xfrm>
          <a:prstGeom prst="rect">
            <a:avLst/>
          </a:prstGeom>
          <a:solidFill>
            <a:srgbClr val="0D1426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4688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0B981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6324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8FAFC"/>
                </a:solidFill>
                <a:latin typeface="Segoe UI"/>
              </a:rPr>
              <a:t>Ақ тізім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8568" y="269748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Segoe U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41448" y="2377440"/>
            <a:ext cx="1737360" cy="1280160"/>
          </a:xfrm>
          <a:prstGeom prst="rect">
            <a:avLst/>
          </a:prstGeom>
          <a:solidFill>
            <a:srgbClr val="0D1426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32888" y="24688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3B82F6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32888" y="306324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8FAFC"/>
                </a:solidFill>
                <a:latin typeface="Segoe UI"/>
              </a:rPr>
              <a:t>Redis кэш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7096" y="269748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Segoe U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2377440"/>
            <a:ext cx="1737360" cy="1280160"/>
          </a:xfrm>
          <a:prstGeom prst="rect">
            <a:avLst/>
          </a:prstGeom>
          <a:solidFill>
            <a:srgbClr val="0D1426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1416" y="24688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3B82F6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1416" y="306324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8FAFC"/>
                </a:solidFill>
                <a:latin typeface="Segoe UI"/>
              </a:rPr>
              <a:t>Офлайн 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5624" y="269748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Segoe U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18504" y="2377440"/>
            <a:ext cx="1737360" cy="1280160"/>
          </a:xfrm>
          <a:prstGeom prst="rect">
            <a:avLst/>
          </a:prstGeom>
          <a:solidFill>
            <a:srgbClr val="0D1426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9944" y="24688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8B5CF6"/>
                </a:solidFill>
                <a:latin typeface="Segoe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306324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8FAFC"/>
                </a:solidFill>
                <a:latin typeface="Segoe UI"/>
              </a:rPr>
              <a:t>KZ Intel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4152" y="269748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Segoe U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57032" y="2377440"/>
            <a:ext cx="1737360" cy="1280160"/>
          </a:xfrm>
          <a:prstGeom prst="rect">
            <a:avLst/>
          </a:prstGeom>
          <a:solidFill>
            <a:srgbClr val="0D1426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48472" y="24688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59E0B"/>
                </a:solidFill>
                <a:latin typeface="Segoe U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8472" y="306324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8FAFC"/>
                </a:solidFill>
                <a:latin typeface="Segoe UI"/>
              </a:rPr>
              <a:t>Сыртқы DB + домен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269748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Segoe U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95560" y="2377440"/>
            <a:ext cx="1737360" cy="1280160"/>
          </a:xfrm>
          <a:prstGeom prst="rect">
            <a:avLst/>
          </a:prstGeom>
          <a:solidFill>
            <a:srgbClr val="0D1426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87000" y="24688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D4FF"/>
                </a:solidFill>
                <a:latin typeface="Segoe U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306324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8FAFC"/>
                </a:solidFill>
                <a:latin typeface="Segoe UI"/>
              </a:rPr>
              <a:t>Groq / Gemini AI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114800"/>
            <a:ext cx="11201400" cy="1920240"/>
          </a:xfrm>
          <a:prstGeom prst="rect">
            <a:avLst/>
          </a:prstGeom>
          <a:solidFill>
            <a:srgbClr val="0D142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4114800"/>
            <a:ext cx="11201400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261104"/>
            <a:ext cx="10835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Segoe UI"/>
              </a:rPr>
              <a:t>🧱  Технологиялық стек</a:t>
            </a:r>
          </a:p>
        </p:txBody>
      </p:sp>
      <p:sp>
        <p:nvSpPr>
          <p:cNvPr id="33" name="Oval 32"/>
          <p:cNvSpPr/>
          <p:nvPr/>
        </p:nvSpPr>
        <p:spPr>
          <a:xfrm>
            <a:off x="731520" y="4800600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709160"/>
            <a:ext cx="10405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Segoe UI"/>
              </a:rPr>
              <a:t>Backend: FastAPI (Python) · Frontend: Chrome/Firefox MV3 + React</a:t>
            </a:r>
          </a:p>
        </p:txBody>
      </p:sp>
      <p:sp>
        <p:nvSpPr>
          <p:cNvPr id="35" name="Oval 34"/>
          <p:cNvSpPr/>
          <p:nvPr/>
        </p:nvSpPr>
        <p:spPr>
          <a:xfrm>
            <a:off x="731520" y="5212080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120640"/>
            <a:ext cx="10405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Segoe UI"/>
              </a:rPr>
              <a:t>Деректер: Supabase PostgreSQL · Кэш: Upstash Redis · AI: Groq llama-3.3-70b + Gemini 2.5</a:t>
            </a:r>
          </a:p>
        </p:txBody>
      </p:sp>
      <p:sp>
        <p:nvSpPr>
          <p:cNvPr id="37" name="Oval 36"/>
          <p:cNvSpPr/>
          <p:nvPr/>
        </p:nvSpPr>
        <p:spPr>
          <a:xfrm>
            <a:off x="731520" y="5623560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532120"/>
            <a:ext cx="10405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Segoe UI"/>
              </a:rPr>
              <a:t>Бот: Telegram webhook · CI/CD: GitHub Actions + Vercel · 80 автотест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2404872" cy="292608"/>
          </a:xfrm>
          <a:prstGeom prst="rect">
            <a:avLst/>
          </a:prstGeom>
          <a:solidFill>
            <a:srgbClr val="22173D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489204"/>
            <a:ext cx="24048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8B5CF6"/>
                </a:solidFill>
                <a:latin typeface="Segoe UI"/>
              </a:rPr>
              <a:t>НЕГЕ ҚАЙТАЛАУ ҚИЫН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Segoe UI"/>
              </a:rPr>
              <a:t>Бәсекеге төзімді артықшылықтар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38528"/>
            <a:ext cx="1828800" cy="411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286000"/>
            <a:ext cx="5440680" cy="1600200"/>
          </a:xfrm>
          <a:prstGeom prst="rect">
            <a:avLst/>
          </a:prstGeom>
          <a:solidFill>
            <a:srgbClr val="0D142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286000"/>
            <a:ext cx="5440680" cy="411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32304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Segoe UI"/>
              </a:rPr>
              <a:t>🗄️ KZ дата-moat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52928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Segoe UI"/>
              </a:rPr>
              <a:t>Өздігінен өсетін KZ қауіп базасы + ашық CC-BY фид (/feed/kz). Жаһандық ойыншыларда жоқ, банктер жабық ұстайды.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286000"/>
            <a:ext cx="5440680" cy="1600200"/>
          </a:xfrm>
          <a:prstGeom prst="rect">
            <a:avLst/>
          </a:prstGeom>
          <a:solidFill>
            <a:srgbClr val="0D142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2286000"/>
            <a:ext cx="5440680" cy="411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432304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Segoe UI"/>
              </a:rPr>
              <a:t>Қазақ тілі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852928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Segoe UI"/>
              </a:rPr>
              <a:t>Қазақша AI-вердикт пен түсіндірме. Google/Netcraft локализацияламайды.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069080"/>
            <a:ext cx="5440680" cy="1600200"/>
          </a:xfrm>
          <a:prstGeom prst="rect">
            <a:avLst/>
          </a:prstGeom>
          <a:solidFill>
            <a:srgbClr val="0D142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069080"/>
            <a:ext cx="5440680" cy="411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215384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Segoe UI"/>
              </a:rPr>
              <a:t>🧩 Кеңдік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636008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Segoe UI"/>
              </a:rPr>
              <a:t>URL + телефон + SMS + пирамида + госзакуп — бір құралда. Ешкімде жоқ комбинация.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4069080"/>
            <a:ext cx="5440680" cy="1600200"/>
          </a:xfrm>
          <a:prstGeom prst="rect">
            <a:avLst/>
          </a:prstGeom>
          <a:solidFill>
            <a:srgbClr val="0D142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4069080"/>
            <a:ext cx="5440680" cy="411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4215384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Segoe UI"/>
              </a:rPr>
              <a:t>🏛️ Ресми агрегация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636008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Segoe UI"/>
              </a:rPr>
              <a:t>KZ-CERT + АФМ + госзакуп үстіндегі жалғыз азаматтық қабат.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989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Segoe UI"/>
              </a:rPr>
              <a:t>Жеткізу де moat: Telegram бот + кеңейтім — скам нақ Telegram/WhatsApp/Instagram-да тұрады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2176272" cy="292608"/>
          </a:xfrm>
          <a:prstGeom prst="rect">
            <a:avLst/>
          </a:prstGeom>
          <a:solidFill>
            <a:srgbClr val="042E20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489204"/>
            <a:ext cx="21762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  <a:latin typeface="Segoe UI"/>
              </a:rPr>
              <a:t>ИМПАКТ + МАСШТАБ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Segoe UI"/>
              </a:rPr>
              <a:t>Демодан мемлекеттік ауқымға дейін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38528"/>
            <a:ext cx="1828800" cy="411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286000"/>
            <a:ext cx="3611880" cy="3200400"/>
          </a:xfrm>
          <a:prstGeom prst="rect">
            <a:avLst/>
          </a:prstGeom>
          <a:solidFill>
            <a:srgbClr val="0D142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286000"/>
            <a:ext cx="3611880" cy="411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32304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Segoe UI"/>
              </a:rPr>
              <a:t>📈 Әсер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01752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926080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Азамат шығынын азайту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56616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474720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Регулятор үшін live аналитика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11480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Ашық KZ қауіп фиді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66344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572000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Қазақша қол жетімділік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2286000"/>
            <a:ext cx="3611880" cy="3200400"/>
          </a:xfrm>
          <a:prstGeom prst="rect">
            <a:avLst/>
          </a:prstGeom>
          <a:solidFill>
            <a:srgbClr val="0D142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2286000"/>
            <a:ext cx="3611880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2432304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Segoe UI"/>
              </a:rPr>
              <a:t>⚙️ Масштаб</a:t>
            </a:r>
          </a:p>
        </p:txBody>
      </p:sp>
      <p:sp>
        <p:nvSpPr>
          <p:cNvPr id="21" name="Oval 20"/>
          <p:cNvSpPr/>
          <p:nvPr/>
        </p:nvSpPr>
        <p:spPr>
          <a:xfrm>
            <a:off x="4480560" y="3017520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2926080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10к → 1М тексеру/күн</a:t>
            </a:r>
          </a:p>
        </p:txBody>
      </p:sp>
      <p:sp>
        <p:nvSpPr>
          <p:cNvPr id="23" name="Oval 22"/>
          <p:cNvSpPr/>
          <p:nvPr/>
        </p:nvSpPr>
        <p:spPr>
          <a:xfrm>
            <a:off x="4480560" y="3566160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474720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Тёплый кэш (VPS)</a:t>
            </a:r>
          </a:p>
        </p:txBody>
      </p:sp>
      <p:sp>
        <p:nvSpPr>
          <p:cNvPr id="25" name="Oval 24"/>
          <p:cNvSpPr/>
          <p:nvPr/>
        </p:nvSpPr>
        <p:spPr>
          <a:xfrm>
            <a:off x="4480560" y="4114800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4023360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Кезек + rate-limit</a:t>
            </a:r>
          </a:p>
        </p:txBody>
      </p:sp>
      <p:sp>
        <p:nvSpPr>
          <p:cNvPr id="27" name="Oval 26"/>
          <p:cNvSpPr/>
          <p:nvPr/>
        </p:nvSpPr>
        <p:spPr>
          <a:xfrm>
            <a:off x="4480560" y="4663440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4572000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€5/ай → $50-80 @1М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2440" y="2286000"/>
            <a:ext cx="3611880" cy="3200400"/>
          </a:xfrm>
          <a:prstGeom prst="rect">
            <a:avLst/>
          </a:prstGeom>
          <a:solidFill>
            <a:srgbClr val="0D142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92440" y="2286000"/>
            <a:ext cx="3611880" cy="411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20" y="2432304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Segoe UI"/>
              </a:rPr>
              <a:t>🏛️ B2G</a:t>
            </a:r>
          </a:p>
        </p:txBody>
      </p:sp>
      <p:sp>
        <p:nvSpPr>
          <p:cNvPr id="32" name="Oval 31"/>
          <p:cNvSpPr/>
          <p:nvPr/>
        </p:nvSpPr>
        <p:spPr>
          <a:xfrm>
            <a:off x="8275320" y="301752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58200" y="2926080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Банк/МФО үшін API</a:t>
            </a:r>
          </a:p>
        </p:txBody>
      </p:sp>
      <p:sp>
        <p:nvSpPr>
          <p:cNvPr id="34" name="Oval 33"/>
          <p:cNvSpPr/>
          <p:nvPr/>
        </p:nvSpPr>
        <p:spPr>
          <a:xfrm>
            <a:off x="8275320" y="356616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58200" y="3474720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Нацбанк Антифрод-орталығын қоректендіру</a:t>
            </a:r>
          </a:p>
        </p:txBody>
      </p:sp>
      <p:sp>
        <p:nvSpPr>
          <p:cNvPr id="36" name="Oval 35"/>
          <p:cNvSpPr/>
          <p:nvPr/>
        </p:nvSpPr>
        <p:spPr>
          <a:xfrm>
            <a:off x="8275320" y="411480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58200" y="4023360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KZ-CERT-ке эскалация</a:t>
            </a:r>
          </a:p>
        </p:txBody>
      </p:sp>
      <p:sp>
        <p:nvSpPr>
          <p:cNvPr id="38" name="Oval 37"/>
          <p:cNvSpPr/>
          <p:nvPr/>
        </p:nvSpPr>
        <p:spPr>
          <a:xfrm>
            <a:off x="8275320" y="466344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58200" y="4572000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eGov интеграция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897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Segoe UI"/>
              </a:rPr>
              <a:t>Бәсекелесу емес — мемлекеттік антифродты ТОЛЫҚТЫРАМЫЗ (азаматтық қабат)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8FAFC"/>
                </a:solidFill>
                <a:latin typeface="Segoe UI"/>
              </a:rPr>
              <a:t>Тірі демо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920240"/>
            <a:ext cx="5029200" cy="960120"/>
          </a:xfrm>
          <a:prstGeom prst="rect">
            <a:avLst/>
          </a:prstGeom>
          <a:solidFill>
            <a:srgbClr val="0D142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0160" y="1920240"/>
            <a:ext cx="5029200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066544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Segoe UI"/>
              </a:rPr>
              <a:t>🌐 Лендинг + дашборд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4FF"/>
                </a:solidFill>
                <a:latin typeface="Segoe UI"/>
              </a:rPr>
              <a:t>qalqan-ai-nu.vercel.app/dashboard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79" y="1920240"/>
            <a:ext cx="5029200" cy="960120"/>
          </a:xfrm>
          <a:prstGeom prst="rect">
            <a:avLst/>
          </a:prstGeom>
          <a:solidFill>
            <a:srgbClr val="0D142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79" y="1920240"/>
            <a:ext cx="5029200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59" y="2066544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Segoe UI"/>
              </a:rPr>
              <a:t>🤖 Telegram бот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59" y="24688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4FF"/>
                </a:solidFill>
                <a:latin typeface="Segoe UI"/>
              </a:rPr>
              <a:t>@QalqanAI_bot — /check, /phone, /sms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80160" y="3063240"/>
            <a:ext cx="5029200" cy="960120"/>
          </a:xfrm>
          <a:prstGeom prst="rect">
            <a:avLst/>
          </a:prstGeom>
          <a:solidFill>
            <a:srgbClr val="0D142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80160" y="3063240"/>
            <a:ext cx="5029200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3209544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Segoe UI"/>
              </a:rPr>
              <a:t>Ашық код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6118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4FF"/>
                </a:solidFill>
                <a:latin typeface="Segoe UI"/>
              </a:rPr>
              <a:t>github.com/Kennurken/qalqan-ai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79" y="3063240"/>
            <a:ext cx="5029200" cy="960120"/>
          </a:xfrm>
          <a:prstGeom prst="rect">
            <a:avLst/>
          </a:prstGeom>
          <a:solidFill>
            <a:srgbClr val="0D142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79" y="3063240"/>
            <a:ext cx="5029200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59" y="3209544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Segoe UI"/>
              </a:rPr>
              <a:t>Ашық KZ фид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59" y="36118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4FF"/>
                </a:solidFill>
                <a:latin typeface="Segoe UI"/>
              </a:rPr>
              <a:t>qalqan-ai-nu.vercel.app/feed/kz (CC-BY)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80160" y="4389120"/>
            <a:ext cx="9601200" cy="1188720"/>
          </a:xfrm>
          <a:prstGeom prst="rect">
            <a:avLst/>
          </a:prstGeom>
          <a:solidFill>
            <a:srgbClr val="0F172A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46177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8FAFC"/>
                </a:solidFill>
                <a:latin typeface="Segoe UI"/>
              </a:rPr>
              <a:t>«Қазақстан жыл сайын миллиардтаған теңге жоғалтады.
Qalqan — кез келген азамат сілтемені, нөмірді, SMS-ті тексеретін алғашқы есік.»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Segoe UI"/>
              </a:rPr>
              <a:t>Рахмет!  ·  Барахат Мұхтар + Қыдырбек Елдос  ·  ДЭР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