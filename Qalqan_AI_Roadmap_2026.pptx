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" cy="68580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4572" cy="68580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0"/>
            <a:ext cx="4572" cy="68580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0"/>
            <a:ext cx="4572" cy="68580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0"/>
            <a:ext cx="4572" cy="68580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4572" cy="68580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0"/>
            <a:ext cx="4572" cy="68580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0"/>
            <a:ext cx="4572" cy="68580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4572" cy="68580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0"/>
            <a:ext cx="4572" cy="68580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0"/>
            <a:ext cx="4572" cy="68580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0"/>
            <a:ext cx="4572" cy="68580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0"/>
            <a:ext cx="4572" cy="68580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0" y="0"/>
            <a:ext cx="4572" cy="68580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88952" cy="4572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914400"/>
            <a:ext cx="12188952" cy="4572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12188952" cy="4572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743200"/>
            <a:ext cx="12188952" cy="4572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657600"/>
            <a:ext cx="12188952" cy="4572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88952" cy="4572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12188952" cy="4572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88952" cy="4572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7315200"/>
            <a:ext cx="12188952" cy="4572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0" y="0"/>
            <a:ext cx="6400800" cy="18288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321808" y="429768"/>
            <a:ext cx="1563624" cy="1563624"/>
          </a:xfrm>
          <a:prstGeom prst="ellipse">
            <a:avLst/>
          </a:prstGeom>
          <a:noFill/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94960" y="502920"/>
            <a:ext cx="1417320" cy="1417320"/>
          </a:xfrm>
          <a:prstGeom prst="ellipse">
            <a:avLst/>
          </a:prstGeom>
          <a:solidFill>
            <a:srgbClr val="0D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0" y="704088"/>
            <a:ext cx="1417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F8FAFC"/>
                </a:solidFill>
                <a:latin typeface="Segoe UI"/>
              </a:rPr>
              <a:t>🛡️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10312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8FAFC"/>
                </a:solidFill>
                <a:latin typeface="Segoe UI"/>
              </a:rPr>
              <a:t>QALQAN AI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2999232"/>
            <a:ext cx="57607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32004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60A5FA"/>
                </a:solidFill>
                <a:latin typeface="Segoe UI"/>
              </a:rPr>
              <a:t>90-КҮНДІК ЖОЛЖОСПАР • МАУСЫМ – ТАМЫЗ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7033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4A3B8"/>
                </a:solidFill>
                <a:latin typeface="Segoe UI"/>
              </a:rPr>
              <a:t>Ұлттық киберқорғаныс платформасына апаратын жол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80" y="4663440"/>
            <a:ext cx="1097280" cy="256032"/>
          </a:xfrm>
          <a:prstGeom prst="rect">
            <a:avLst/>
          </a:prstGeom>
          <a:solidFill>
            <a:srgbClr val="3B1111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99232" y="46817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  <a:latin typeface="Segoe UI"/>
              </a:rPr>
              <a:t>  PHISHING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87952" y="4663440"/>
            <a:ext cx="1010412" cy="256032"/>
          </a:xfrm>
          <a:prstGeom prst="rect">
            <a:avLst/>
          </a:prstGeom>
          <a:solidFill>
            <a:srgbClr val="3D2702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61104" y="4681728"/>
            <a:ext cx="10104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Segoe UI"/>
              </a:rPr>
              <a:t>  PYRAMID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39512" y="4663440"/>
            <a:ext cx="1097280" cy="256032"/>
          </a:xfrm>
          <a:prstGeom prst="rect">
            <a:avLst/>
          </a:prstGeom>
          <a:solidFill>
            <a:srgbClr val="22173D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12664" y="46817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  <a:latin typeface="Segoe UI"/>
              </a:rPr>
              <a:t>  GAMBLING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55664" y="4663440"/>
            <a:ext cx="1271016" cy="256032"/>
          </a:xfrm>
          <a:prstGeom prst="rect">
            <a:avLst/>
          </a:prstGeom>
          <a:solidFill>
            <a:srgbClr val="042E20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8816" y="4681728"/>
            <a:ext cx="1271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Segoe UI"/>
              </a:rPr>
              <a:t>  ГОСЗАКУПКИ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5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Segoe UI"/>
              </a:rPr>
              <a:t>Қауіпсіз Қазақстан · Secure Kazakhstan · Безопасный Казахстан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5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Segoe UI"/>
              </a:rPr>
              <a:t>🛡️ QALQAN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Segoe UI"/>
              </a:rPr>
              <a:t>АҒЫМДАҒЫ КҮЙ — v5.1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155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Segoe UI"/>
              </a:rPr>
              <a:t>Базис — бастапқы нүкте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4572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664208"/>
            <a:ext cx="5577840" cy="466344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664208"/>
            <a:ext cx="55778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0136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✅  ІСКЕ ҚОСЫЛҒАН — Production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276856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1671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AFC"/>
                </a:solidFill>
                <a:latin typeface="Segoe UI"/>
              </a:rPr>
              <a:t>6-деңгейлі detection pipeline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72491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6151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AFC"/>
                </a:solidFill>
                <a:latin typeface="Segoe UI"/>
              </a:rPr>
              <a:t>Chrome Extension — KZ phishing/gambling/pyramid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172968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0632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AFC"/>
                </a:solidFill>
                <a:latin typeface="Segoe UI"/>
              </a:rPr>
              <a:t>Groq LLaMA 70B + Gemini Vision AI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3621024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51129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AFC"/>
                </a:solidFill>
                <a:latin typeface="Segoe UI"/>
              </a:rPr>
              <a:t>30+ ML URL features + XAI explanation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406908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9593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AFC"/>
                </a:solidFill>
                <a:latin typeface="Segoe UI"/>
              </a:rPr>
              <a:t>PhishTank / Google Safe Browsing / URLhaus / VT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4517136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4074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AFC"/>
                </a:solidFill>
                <a:latin typeface="Segoe UI"/>
              </a:rPr>
              <a:t>KZ Brand protection (Kaspi, eGov, Halyk...)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496519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48554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AFC"/>
                </a:solidFill>
                <a:latin typeface="Segoe UI"/>
              </a:rPr>
              <a:t>Block page (glassmorphism design)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" y="5413247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530351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AFC"/>
                </a:solidFill>
                <a:latin typeface="Segoe UI"/>
              </a:rPr>
              <a:t>Telegram notifications + appeal system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861304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7515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AFC"/>
                </a:solidFill>
                <a:latin typeface="Segoe UI"/>
              </a:rPr>
              <a:t>Batch URL check + screenshot analysis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1664208"/>
            <a:ext cx="5833872" cy="228600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0760" y="1664208"/>
            <a:ext cx="5833872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1801368"/>
            <a:ext cx="5468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❌  ЖОҚТЫҚТАРЫ</a:t>
            </a:r>
          </a:p>
        </p:txBody>
      </p:sp>
      <p:sp>
        <p:nvSpPr>
          <p:cNvPr id="32" name="Oval 31"/>
          <p:cNvSpPr/>
          <p:nvPr/>
        </p:nvSpPr>
        <p:spPr>
          <a:xfrm>
            <a:off x="6263640" y="2276856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8232" y="21671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Мобильді қолданба (PWA/Android) жоқ</a:t>
            </a:r>
          </a:p>
        </p:txBody>
      </p:sp>
      <p:sp>
        <p:nvSpPr>
          <p:cNvPr id="34" name="Oval 33"/>
          <p:cNvSpPr/>
          <p:nvPr/>
        </p:nvSpPr>
        <p:spPr>
          <a:xfrm>
            <a:off x="6263640" y="2660904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28232" y="255117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Telegram Bot жоқ (80% KZ = Telegram)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3044952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2" y="293522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Госзакупки fraud detection жоқ</a:t>
            </a:r>
          </a:p>
        </p:txBody>
      </p:sp>
      <p:sp>
        <p:nvSpPr>
          <p:cNvPr id="38" name="Oval 37"/>
          <p:cNvSpPr/>
          <p:nvPr/>
        </p:nvSpPr>
        <p:spPr>
          <a:xfrm>
            <a:off x="6263640" y="342900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8232" y="33192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Өз ML моделі жоқ (HuggingFace)</a:t>
            </a:r>
          </a:p>
        </p:txBody>
      </p:sp>
      <p:sp>
        <p:nvSpPr>
          <p:cNvPr id="40" name="Oval 39"/>
          <p:cNvSpPr/>
          <p:nvPr/>
        </p:nvSpPr>
        <p:spPr>
          <a:xfrm>
            <a:off x="6263640" y="3813048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8232" y="37033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Public API + документация жоқ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0760" y="4133087"/>
            <a:ext cx="5833872" cy="2194560"/>
          </a:xfrm>
          <a:prstGeom prst="rect">
            <a:avLst/>
          </a:prstGeom>
          <a:solidFill>
            <a:srgbClr val="0D221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80760" y="4133087"/>
            <a:ext cx="5833872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42793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Segoe UI"/>
              </a:rPr>
              <a:t>💡  СТРАТЕГИЯ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6634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Техникалық база берік. 3 айда — уникальды
KZ-бағытты фичелер қосу: госзакупки,
Telegram, Mobile, өз AI моделі.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5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Segoe UI"/>
              </a:rPr>
              <a:t>🛡️ QALQAN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"/>
            <a:ext cx="1417320" cy="502920"/>
          </a:xfrm>
          <a:prstGeom prst="rect">
            <a:avLst/>
          </a:prstGeom>
          <a:solidFill>
            <a:srgbClr val="051835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65836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B82F6"/>
                </a:solidFill>
                <a:latin typeface="Segoe UI"/>
              </a:rPr>
              <a:t>МАУСЫМ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2179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Segoe UI"/>
              </a:rPr>
              <a:t>Экономикалық барлау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11556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9E0B"/>
                </a:solidFill>
                <a:latin typeface="Segoe UI"/>
              </a:rPr>
              <a:t>Госзакупки фроды + Telegram Bot — бізде ғана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81328"/>
            <a:ext cx="77724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664208"/>
            <a:ext cx="7040880" cy="466344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664208"/>
            <a:ext cx="70408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01368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🏛️  ГОСЗАКУПКИ FRAUD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671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10 RED-FLAG ЕРЕЖЕСІ: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596896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487168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1 компания жеңеді &gt;70% тендерлер регионда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01752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90779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Поставщик регистрациясы &lt;30 күн тендерге дейін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3438144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328416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Заказчик пен поставщик — бір мекенжай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3858768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749040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Цена = 99.9% стартовой (сговор белгісі)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4279392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4169664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Учредитель + чиновник — туыс (ашық реестрлер)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4700016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4590288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Аффилированные субподрядчик тізбесі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512064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501091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Директор ауысты жеңістен кейін (обналичивание)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166360"/>
            <a:ext cx="6675120" cy="868680"/>
          </a:xfrm>
          <a:prstGeom prst="rect">
            <a:avLst/>
          </a:prstGeom>
          <a:solidFill>
            <a:srgbClr val="0D1A0D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212080"/>
            <a:ext cx="6492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Segoe UI"/>
              </a:rPr>
              <a:t>📊  Деректер: goszakup.gov.kz API v3 (ашық) + egov.kz реестрлер  |  Стек: NetworkX граф + D3.js визуализация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9" y="1664208"/>
            <a:ext cx="4416552" cy="251460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98079" y="1664208"/>
            <a:ext cx="441655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59" y="1801368"/>
            <a:ext cx="4050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✈️  TELEGRAM BOT</a:t>
            </a:r>
          </a:p>
        </p:txBody>
      </p:sp>
      <p:sp>
        <p:nvSpPr>
          <p:cNvPr id="33" name="Oval 32"/>
          <p:cNvSpPr/>
          <p:nvPr/>
        </p:nvSpPr>
        <p:spPr>
          <a:xfrm>
            <a:off x="7680960" y="2276856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16712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/check URL — тексеру</a:t>
            </a:r>
          </a:p>
        </p:txBody>
      </p:sp>
      <p:sp>
        <p:nvSpPr>
          <p:cNvPr id="35" name="Oval 34"/>
          <p:cNvSpPr/>
          <p:nvPr/>
        </p:nvSpPr>
        <p:spPr>
          <a:xfrm>
            <a:off x="7680960" y="2660904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45552" y="255117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/check ИИН — поставщик тексеру</a:t>
            </a:r>
          </a:p>
        </p:txBody>
      </p:sp>
      <p:sp>
        <p:nvSpPr>
          <p:cNvPr id="37" name="Oval 36"/>
          <p:cNvSpPr/>
          <p:nvPr/>
        </p:nvSpPr>
        <p:spPr>
          <a:xfrm>
            <a:off x="7680960" y="3044952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45552" y="293522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Скриншот → Vision AI анализ</a:t>
            </a:r>
          </a:p>
        </p:txBody>
      </p:sp>
      <p:sp>
        <p:nvSpPr>
          <p:cNvPr id="39" name="Oval 38"/>
          <p:cNvSpPr/>
          <p:nvPr/>
        </p:nvSpPr>
        <p:spPr>
          <a:xfrm>
            <a:off x="7680960" y="3429000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45552" y="331927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Күнделікті қауіп дайджесті</a:t>
            </a:r>
          </a:p>
        </p:txBody>
      </p:sp>
      <p:sp>
        <p:nvSpPr>
          <p:cNvPr id="41" name="Oval 40"/>
          <p:cNvSpPr/>
          <p:nvPr/>
        </p:nvSpPr>
        <p:spPr>
          <a:xfrm>
            <a:off x="7680960" y="3813048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45552" y="370332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Жазылу: @QalqanBot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4361688"/>
            <a:ext cx="4416552" cy="914400"/>
          </a:xfrm>
          <a:prstGeom prst="rect">
            <a:avLst/>
          </a:prstGeom>
          <a:solidFill>
            <a:srgbClr val="051835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80960" y="4407408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  <a:latin typeface="Segoe UI"/>
              </a:rPr>
              <a:t>📱  KZ аудиториясының 80%+
Telegram қолданады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79" y="5458968"/>
            <a:ext cx="4416552" cy="868680"/>
          </a:xfrm>
          <a:prstGeom prst="rect">
            <a:avLst/>
          </a:prstGeom>
          <a:solidFill>
            <a:srgbClr val="180D08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35240" y="55046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⭐⭐⭐⭐⭐  WOW-FACTOR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5806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Ешбір конкурент мұны жасамаған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5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Segoe UI"/>
              </a:rPr>
              <a:t>🛡️ QALQAN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"/>
            <a:ext cx="1417320" cy="502920"/>
          </a:xfrm>
          <a:prstGeom prst="rect">
            <a:avLst/>
          </a:prstGeom>
          <a:solidFill>
            <a:srgbClr val="1A1035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65836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B5CF6"/>
                </a:solidFill>
                <a:latin typeface="Segoe UI"/>
              </a:rPr>
              <a:t>ШІЛДЕ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2179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Segoe UI"/>
              </a:rPr>
              <a:t>Мобильді + Өз ML моделі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11556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5CF6"/>
                </a:solidFill>
                <a:latin typeface="Segoe UI"/>
              </a:rPr>
              <a:t>70% KZ = мобильді + академиялық тереңдік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81328"/>
            <a:ext cx="77724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664208"/>
            <a:ext cx="3794760" cy="466344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664208"/>
            <a:ext cx="379476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0136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📱  PWA + QR СКАНЕР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276856"/>
            <a:ext cx="91440" cy="914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1671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Android/iOS — орнатусыз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2697480"/>
            <a:ext cx="91440" cy="914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5877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Camera → QR код сканеру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3118104"/>
            <a:ext cx="91440" cy="914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0083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Kaspi QR фишинг тексеру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3538728"/>
            <a:ext cx="91440" cy="914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4290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Push-хабарламалар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3959352"/>
            <a:ext cx="91440" cy="914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8496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Service Worker офлайн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4379976"/>
            <a:ext cx="91440" cy="914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427024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«Жұмыс үстеліне» қосу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" y="4800600"/>
            <a:ext cx="91440" cy="914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46908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Бір кодтан — 3 платформа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1664208"/>
            <a:ext cx="4206240" cy="466344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60" y="1664208"/>
            <a:ext cx="42062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180136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🧠  CUSTOM ML МОДЕЛЬ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216712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Segoe UI"/>
              </a:rPr>
              <a:t>XLM-RoBERTa Fine-tune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2532888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KZ-фишинг датасеті бойынша дайындалған
нейрожелі. PhishTank + KZ инциденттері.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34840" y="3264408"/>
            <a:ext cx="914400" cy="777240"/>
          </a:xfrm>
          <a:prstGeom prst="rect">
            <a:avLst/>
          </a:prstGeom>
          <a:solidFill>
            <a:srgbClr val="051810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71416" y="3310128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  <a:latin typeface="Segoe UI"/>
              </a:rPr>
              <a:t>97.4%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71416" y="370332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Segoe UI"/>
              </a:rPr>
              <a:t>Accuracy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40680" y="3264408"/>
            <a:ext cx="914400" cy="777240"/>
          </a:xfrm>
          <a:prstGeom prst="rect">
            <a:avLst/>
          </a:prstGeom>
          <a:solidFill>
            <a:srgbClr val="051810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77256" y="3310128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  <a:latin typeface="Segoe UI"/>
              </a:rPr>
              <a:t>96.8%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77256" y="370332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Segoe UI"/>
              </a:rPr>
              <a:t>F1-Score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3264408"/>
            <a:ext cx="914400" cy="777240"/>
          </a:xfrm>
          <a:prstGeom prst="rect">
            <a:avLst/>
          </a:prstGeom>
          <a:solidFill>
            <a:srgbClr val="051810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83096" y="3310128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  <a:latin typeface="Segoe UI"/>
              </a:rPr>
              <a:t>98.1%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83096" y="370332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Segoe UI"/>
              </a:rPr>
              <a:t>Precision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52360" y="3264408"/>
            <a:ext cx="914400" cy="777240"/>
          </a:xfrm>
          <a:prstGeom prst="rect">
            <a:avLst/>
          </a:prstGeom>
          <a:solidFill>
            <a:srgbClr val="051810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88936" y="3310128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  <a:latin typeface="Segoe UI"/>
              </a:rPr>
              <a:t>95.6%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88936" y="370332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Segoe UI"/>
              </a:rPr>
              <a:t>Recall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42245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Segoe UI"/>
              </a:rPr>
              <a:t>🤗  HuggingFace-та жариялау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34840" y="4544568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Segoe UI"/>
              </a:rPr>
              <a:t>Академиялық салмақ береді — жюриге
ашық датасет + модель = ғылыми жұмыс.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34840" y="5230368"/>
            <a:ext cx="3840480" cy="685800"/>
          </a:xfrm>
          <a:prstGeom prst="rect">
            <a:avLst/>
          </a:prstGeom>
          <a:solidFill>
            <a:srgbClr val="051835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17720" y="5294376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A5FA"/>
                </a:solidFill>
                <a:latin typeface="Segoe UI"/>
              </a:rPr>
              <a:t>Pipeline: Tier 3.5 (DB → ML → Groq AI)
Жылдамдық +40%, қателік -15%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86800" y="1664208"/>
            <a:ext cx="3227832" cy="466344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686800" y="1664208"/>
            <a:ext cx="322783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69680" y="1801368"/>
            <a:ext cx="2862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🔌  PUBLIC API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2167128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 b="1">
                <a:solidFill>
                  <a:srgbClr val="60A5FA"/>
                </a:solidFill>
                <a:latin typeface="Segoe UI"/>
              </a:rPr>
              <a:t>POST /v1/check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94A3B8"/>
                </a:solidFill>
                <a:latin typeface="Segoe UI"/>
              </a:rPr>
              <a:t>100 req/day тегін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60A5FA"/>
                </a:solidFill>
                <a:latin typeface="Segoe UI"/>
              </a:rPr>
              <a:t>POST /v1/procurement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94A3B8"/>
                </a:solidFill>
                <a:latin typeface="Segoe UI"/>
              </a:rPr>
              <a:t>50 req/day тегін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60A5FA"/>
                </a:solidFill>
                <a:latin typeface="Segoe UI"/>
              </a:rPr>
              <a:t>GET /v1/threats/kz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94A3B8"/>
                </a:solidFill>
                <a:latin typeface="Segoe UI"/>
              </a:rPr>
              <a:t>100 соңғы KZ қауіп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69680" y="4773168"/>
            <a:ext cx="2834640" cy="914400"/>
          </a:xfrm>
          <a:prstGeom prst="rect">
            <a:avLst/>
          </a:prstGeom>
          <a:solidFill>
            <a:srgbClr val="180E05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52560" y="4818888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9E0B"/>
                </a:solidFill>
                <a:latin typeface="Segoe UI"/>
              </a:rPr>
              <a:t>Банктер, телеком
компаниялар интеграция
еде алады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5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Segoe UI"/>
              </a:rPr>
              <a:t>🛡️ QALQAN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"/>
            <a:ext cx="1417320" cy="502920"/>
          </a:xfrm>
          <a:prstGeom prst="rect">
            <a:avLst/>
          </a:prstGeom>
          <a:solidFill>
            <a:srgbClr val="18080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65836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F4444"/>
                </a:solidFill>
                <a:latin typeface="Segoe UI"/>
              </a:rPr>
              <a:t>ТАМЫЗ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2179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Segoe UI"/>
              </a:rPr>
              <a:t>Ғылыми дәлелдік + Суверенділік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11556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F4444"/>
                </a:solidFill>
                <a:latin typeface="Segoe UI"/>
              </a:rPr>
              <a:t>Жюри сенеді деректерге + мемлекеттік серіктестікке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81328"/>
            <a:ext cx="77724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664208"/>
            <a:ext cx="3657600" cy="466344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664208"/>
            <a:ext cx="36576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013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📄  KZ THREAT REPORT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67128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«KZ Cyber Threat Landscape 2026»
атаулы PDF зерттеу жарияланымы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026664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91693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Топ-20 белсенді фишинг домен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502151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392423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Қауіп типтері: gambling 45%,
phishing 30%, pyramid 25%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397764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86791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Айлық динамика (графиктер)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4453128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434340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Бұғатталған N қауіп статистикасы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4928616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481888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Ойыс аймақтары KZ картасы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5404104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529437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Банктерге ұсынымдар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1664208"/>
            <a:ext cx="3886200" cy="466344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60520" y="1664208"/>
            <a:ext cx="38862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180136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📊  BENCHMARK 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21671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1000+ URL датасеті (500 зиянды + 500 қауіпсіз)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101644"/>
            <a:ext cx="640080" cy="1168603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278160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75569"/>
                </a:solidFill>
                <a:latin typeface="Segoe UI"/>
              </a:rPr>
              <a:t>71%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4361688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Segoe UI"/>
              </a:rPr>
              <a:t>URL features
only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57800" y="2887675"/>
            <a:ext cx="640080" cy="13825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57800" y="2567635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Segoe UI"/>
              </a:rPr>
              <a:t>84%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800" y="4361688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Segoe UI"/>
              </a:rPr>
              <a:t>+ DB
checks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2772460"/>
            <a:ext cx="640080" cy="1497787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2452420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B82F6"/>
                </a:solidFill>
                <a:latin typeface="Segoe UI"/>
              </a:rPr>
              <a:t>91%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4361688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Segoe UI"/>
              </a:rPr>
              <a:t>+ ML
model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86600" y="2673705"/>
            <a:ext cx="640080" cy="159654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86600" y="2353665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Segoe UI"/>
              </a:rPr>
              <a:t>97%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4361688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Segoe UI"/>
              </a:rPr>
              <a:t>Full
pipeline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400" y="49560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F1 / Accuracy / MCC / ROC-AUC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43400" y="5367528"/>
            <a:ext cx="3474720" cy="685800"/>
          </a:xfrm>
          <a:prstGeom prst="rect">
            <a:avLst/>
          </a:prstGeom>
          <a:solidFill>
            <a:srgbClr val="051810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26280" y="541324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0B981"/>
                </a:solidFill>
                <a:latin typeface="Segoe UI"/>
              </a:rPr>
              <a:t>Ablation study: әрбір tier-дің үлесі
Дипломдық жұмыс/мақалаға дайын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75320" y="1664208"/>
            <a:ext cx="3639312" cy="224028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75320" y="1664208"/>
            <a:ext cx="363931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58200" y="1801368"/>
            <a:ext cx="3273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🇰🇿  KazGPT ИНТЕГРАЦИЯ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2167128"/>
            <a:ext cx="3246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Groq → KazGPT/Ollama (жергілікті LLM)
КР азаматтарының деректері
АҚШ серверлеріне бармайды.
Мемлекеттік жүйелерге —
on-prem деплой мүмкін.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75320" y="4087368"/>
            <a:ext cx="3639312" cy="224028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75320" y="4087368"/>
            <a:ext cx="363931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58200" y="4224528"/>
            <a:ext cx="3273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🤝  KazCERT СЕРІКТЕСТІК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58200" y="4590288"/>
            <a:ext cx="3246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Жаңа қауіптерді KazCERT-ке жіберу
Олардан актуальды blacklist алу
«Мемлекеттік серіктестік» статусы
жюриде үлкен салмаққа ие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5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Segoe UI"/>
              </a:rPr>
              <a:t>🛡️ QALQAN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Segoe UI"/>
              </a:rPr>
              <a:t>ЖОЛЖОСПАР — 90 КҮН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15568"/>
            <a:ext cx="9144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474720" cy="347472"/>
          </a:xfrm>
          <a:prstGeom prst="rect">
            <a:avLst/>
          </a:prstGeom>
          <a:solidFill>
            <a:srgbClr val="0A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Segoe UI"/>
              </a:rPr>
              <a:t>ТАПСЫРМА</a:t>
            </a:r>
          </a:p>
        </p:txBody>
      </p:sp>
      <p:sp>
        <p:nvSpPr>
          <p:cNvPr id="9" name="Rectangle 8"/>
          <p:cNvSpPr/>
          <p:nvPr/>
        </p:nvSpPr>
        <p:spPr>
          <a:xfrm>
            <a:off x="3794760" y="1234440"/>
            <a:ext cx="822960" cy="347472"/>
          </a:xfrm>
          <a:prstGeom prst="rect">
            <a:avLst/>
          </a:prstGeom>
          <a:solidFill>
            <a:srgbClr val="0A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1280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75569"/>
                </a:solidFill>
                <a:latin typeface="Segoe UI"/>
              </a:rPr>
              <a:t>АЙ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1234440"/>
            <a:ext cx="1645920" cy="347472"/>
          </a:xfrm>
          <a:prstGeom prst="rect">
            <a:avLst/>
          </a:prstGeom>
          <a:solidFill>
            <a:srgbClr val="0A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280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Segoe UI"/>
              </a:rPr>
              <a:t>WOW FACTOR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1234440"/>
            <a:ext cx="5742432" cy="347472"/>
          </a:xfrm>
          <a:prstGeom prst="rect">
            <a:avLst/>
          </a:prstGeom>
          <a:solidFill>
            <a:srgbClr val="0A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28016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Segoe UI"/>
              </a:rPr>
              <a:t>БӘСЕКЕЛЕСТІК АРТЫҚШЫЛЫҚ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627632"/>
            <a:ext cx="11914632" cy="457200"/>
          </a:xfrm>
          <a:prstGeom prst="rect">
            <a:avLst/>
          </a:prstGeom>
          <a:solidFill>
            <a:srgbClr val="08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1627632"/>
            <a:ext cx="36576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17190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AFC"/>
                </a:solidFill>
                <a:latin typeface="Segoe UI"/>
              </a:rPr>
              <a:t>Госзакупки fraud detection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1719072"/>
            <a:ext cx="713232" cy="274320"/>
          </a:xfrm>
          <a:prstGeom prst="rect">
            <a:avLst/>
          </a:prstGeom>
          <a:solidFill>
            <a:srgbClr val="311F02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58768" y="1737360"/>
            <a:ext cx="6766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  <a:latin typeface="Segoe UI"/>
              </a:rPr>
              <a:t>МАУ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170992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9E0B"/>
                </a:solidFill>
                <a:latin typeface="Segoe UI"/>
              </a:rPr>
              <a:t>⭐⭐⭐⭐⭐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171907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Тек KZ, ешкімде жоқ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103120"/>
            <a:ext cx="11914632" cy="457200"/>
          </a:xfrm>
          <a:prstGeom prst="rect">
            <a:avLst/>
          </a:prstGeom>
          <a:solidFill>
            <a:srgbClr val="0B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2103120"/>
            <a:ext cx="36576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194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AFC"/>
                </a:solidFill>
                <a:latin typeface="Segoe UI"/>
              </a:rPr>
              <a:t>Аффилированность графы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0" y="2194560"/>
            <a:ext cx="713232" cy="274320"/>
          </a:xfrm>
          <a:prstGeom prst="rect">
            <a:avLst/>
          </a:prstGeom>
          <a:solidFill>
            <a:srgbClr val="311F02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58768" y="2212848"/>
            <a:ext cx="6766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  <a:latin typeface="Segoe UI"/>
              </a:rPr>
              <a:t>МАУ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6592" y="2185416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9E0B"/>
                </a:solidFill>
                <a:latin typeface="Segoe UI"/>
              </a:rPr>
              <a:t>⭐⭐⭐⭐⭐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21945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Визуально убедительно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578608"/>
            <a:ext cx="11914632" cy="457200"/>
          </a:xfrm>
          <a:prstGeom prst="rect">
            <a:avLst/>
          </a:prstGeom>
          <a:solidFill>
            <a:srgbClr val="08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2578608"/>
            <a:ext cx="36576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26700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AFC"/>
                </a:solidFill>
                <a:latin typeface="Segoe UI"/>
              </a:rPr>
              <a:t>Telegram Bot @QalqanBot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0" y="2670048"/>
            <a:ext cx="713232" cy="274320"/>
          </a:xfrm>
          <a:prstGeom prst="rect">
            <a:avLst/>
          </a:prstGeom>
          <a:solidFill>
            <a:srgbClr val="311F02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58768" y="2688336"/>
            <a:ext cx="6766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  <a:latin typeface="Segoe UI"/>
              </a:rPr>
              <a:t>МАУ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36592" y="2660904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9E0B"/>
                </a:solidFill>
                <a:latin typeface="Segoe UI"/>
              </a:rPr>
              <a:t>⭐⭐⭐⭐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267004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80% KZ = Telegram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054096"/>
            <a:ext cx="11914632" cy="457200"/>
          </a:xfrm>
          <a:prstGeom prst="rect">
            <a:avLst/>
          </a:prstGeom>
          <a:solidFill>
            <a:srgbClr val="0B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3054096"/>
            <a:ext cx="36576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314553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AFC"/>
                </a:solidFill>
                <a:latin typeface="Segoe UI"/>
              </a:rPr>
              <a:t>PWA + QR сканер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80" y="3145536"/>
            <a:ext cx="713232" cy="274320"/>
          </a:xfrm>
          <a:prstGeom prst="rect">
            <a:avLst/>
          </a:prstGeom>
          <a:solidFill>
            <a:srgbClr val="1B1231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58768" y="3163824"/>
            <a:ext cx="6766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B5CF6"/>
                </a:solidFill>
                <a:latin typeface="Segoe UI"/>
              </a:rPr>
              <a:t>ШІЛ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36592" y="313639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9E0B"/>
                </a:solidFill>
                <a:latin typeface="Segoe UI"/>
              </a:rPr>
              <a:t>⭐⭐⭐⭐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0528" y="3145536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Мобильді қамту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529584"/>
            <a:ext cx="11914632" cy="457200"/>
          </a:xfrm>
          <a:prstGeom prst="rect">
            <a:avLst/>
          </a:prstGeom>
          <a:solidFill>
            <a:srgbClr val="08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4320" y="3529584"/>
            <a:ext cx="36576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362102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AFC"/>
                </a:solidFill>
                <a:latin typeface="Segoe UI"/>
              </a:rPr>
              <a:t>Custom ML (HuggingFace)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40480" y="3621024"/>
            <a:ext cx="713232" cy="274320"/>
          </a:xfrm>
          <a:prstGeom prst="rect">
            <a:avLst/>
          </a:prstGeom>
          <a:solidFill>
            <a:srgbClr val="1B1231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58768" y="3639312"/>
            <a:ext cx="6766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B5CF6"/>
                </a:solidFill>
                <a:latin typeface="Segoe UI"/>
              </a:rPr>
              <a:t>ШІЛ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36592" y="36118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9E0B"/>
                </a:solidFill>
                <a:latin typeface="Segoe UI"/>
              </a:rPr>
              <a:t>⭐⭐⭐⭐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10528" y="362102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Академиялық салмақ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005072"/>
            <a:ext cx="11914632" cy="457200"/>
          </a:xfrm>
          <a:prstGeom prst="rect">
            <a:avLst/>
          </a:prstGeom>
          <a:solidFill>
            <a:srgbClr val="0B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74320" y="4005072"/>
            <a:ext cx="36576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0965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AFC"/>
                </a:solidFill>
                <a:latin typeface="Segoe UI"/>
              </a:rPr>
              <a:t>Public API + Swagger docs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40480" y="4096512"/>
            <a:ext cx="713232" cy="274320"/>
          </a:xfrm>
          <a:prstGeom prst="rect">
            <a:avLst/>
          </a:prstGeom>
          <a:solidFill>
            <a:srgbClr val="1B1231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58768" y="4114800"/>
            <a:ext cx="6766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B5CF6"/>
                </a:solidFill>
                <a:latin typeface="Segoe UI"/>
              </a:rPr>
              <a:t>ШІЛ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36592" y="408736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9E0B"/>
                </a:solidFill>
                <a:latin typeface="Segoe UI"/>
              </a:rPr>
              <a:t>⭐⭐⭐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10528" y="409651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Бизнес интеграция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4480560"/>
            <a:ext cx="11914632" cy="457200"/>
          </a:xfrm>
          <a:prstGeom prst="rect">
            <a:avLst/>
          </a:prstGeom>
          <a:solidFill>
            <a:srgbClr val="08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74320" y="4480560"/>
            <a:ext cx="36576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" y="4572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AFC"/>
                </a:solidFill>
                <a:latin typeface="Segoe UI"/>
              </a:rPr>
              <a:t>KZ Threat Report PDF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40480" y="4572000"/>
            <a:ext cx="713232" cy="274320"/>
          </a:xfrm>
          <a:prstGeom prst="rect">
            <a:avLst/>
          </a:prstGeom>
          <a:solidFill>
            <a:srgbClr val="2F0D0D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58768" y="4590288"/>
            <a:ext cx="6766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4444"/>
                </a:solidFill>
                <a:latin typeface="Segoe UI"/>
              </a:rPr>
              <a:t>ТАМ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36592" y="4562856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9E0B"/>
                </a:solidFill>
                <a:latin typeface="Segoe UI"/>
              </a:rPr>
              <a:t>⭐⭐⭐⭐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10528" y="45720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Деректер = сенім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4956048"/>
            <a:ext cx="11914632" cy="457200"/>
          </a:xfrm>
          <a:prstGeom prst="rect">
            <a:avLst/>
          </a:prstGeom>
          <a:solidFill>
            <a:srgbClr val="0B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74320" y="4956048"/>
            <a:ext cx="36576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1480" y="50474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AFC"/>
                </a:solidFill>
                <a:latin typeface="Segoe UI"/>
              </a:rPr>
              <a:t>Честный benchmark evaluation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40480" y="5047488"/>
            <a:ext cx="713232" cy="274320"/>
          </a:xfrm>
          <a:prstGeom prst="rect">
            <a:avLst/>
          </a:prstGeom>
          <a:solidFill>
            <a:srgbClr val="2F0D0D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858768" y="5065776"/>
            <a:ext cx="6766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4444"/>
                </a:solidFill>
                <a:latin typeface="Segoe UI"/>
              </a:rPr>
              <a:t>ТАМ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36592" y="5038344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9E0B"/>
                </a:solidFill>
                <a:latin typeface="Segoe UI"/>
              </a:rPr>
              <a:t>⭐⭐⭐⭐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10528" y="504748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Ғылыми негіздеу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5431536"/>
            <a:ext cx="11914632" cy="457200"/>
          </a:xfrm>
          <a:prstGeom prst="rect">
            <a:avLst/>
          </a:prstGeom>
          <a:solidFill>
            <a:srgbClr val="08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74320" y="5431536"/>
            <a:ext cx="36576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1480" y="552297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AFC"/>
                </a:solidFill>
                <a:latin typeface="Segoe UI"/>
              </a:rPr>
              <a:t>KazGPT суверенді AI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40480" y="5522976"/>
            <a:ext cx="713232" cy="274320"/>
          </a:xfrm>
          <a:prstGeom prst="rect">
            <a:avLst/>
          </a:prstGeom>
          <a:solidFill>
            <a:srgbClr val="2F0D0D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858768" y="5541264"/>
            <a:ext cx="6766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4444"/>
                </a:solidFill>
                <a:latin typeface="Segoe UI"/>
              </a:rPr>
              <a:t>ТАМ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36592" y="551383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9E0B"/>
                </a:solidFill>
                <a:latin typeface="Segoe UI"/>
              </a:rPr>
              <a:t>⭐⭐⭐⭐⭐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10528" y="5522976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Деректер KZ-да қалады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5907024"/>
            <a:ext cx="11914632" cy="457200"/>
          </a:xfrm>
          <a:prstGeom prst="rect">
            <a:avLst/>
          </a:prstGeom>
          <a:solidFill>
            <a:srgbClr val="0B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74320" y="5907024"/>
            <a:ext cx="36576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11480" y="599846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AFC"/>
                </a:solidFill>
                <a:latin typeface="Segoe UI"/>
              </a:rPr>
              <a:t>KazCERT серіктестік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840480" y="5998464"/>
            <a:ext cx="713232" cy="274320"/>
          </a:xfrm>
          <a:prstGeom prst="rect">
            <a:avLst/>
          </a:prstGeom>
          <a:solidFill>
            <a:srgbClr val="2F0D0D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858768" y="6016752"/>
            <a:ext cx="6766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4444"/>
                </a:solidFill>
                <a:latin typeface="Segoe UI"/>
              </a:rPr>
              <a:t>ТАМ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36592" y="598932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9E0B"/>
                </a:solidFill>
                <a:latin typeface="Segoe UI"/>
              </a:rPr>
              <a:t>⭐⭐⭐⭐⭐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10528" y="599846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Мемлекеттік мәртебе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5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Segoe UI"/>
              </a:rPr>
              <a:t>🛡️ QALQAN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8FAFC"/>
                </a:solidFill>
                <a:latin typeface="Segoe UI"/>
              </a:rPr>
              <a:t>НЕГЕ ЖЕҢЕМІЗ?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07008"/>
            <a:ext cx="7315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3749039" cy="4937760"/>
          </a:xfrm>
          <a:prstGeom prst="rect">
            <a:avLst/>
          </a:prstGeom>
          <a:solidFill>
            <a:srgbClr val="0D142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32B52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B82F6"/>
                </a:solidFill>
                <a:latin typeface="Segoe UI"/>
              </a:rPr>
              <a:t>УНИКАЛЬДІЛІК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33832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9748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8FAFC"/>
                </a:solidFill>
                <a:latin typeface="Segoe UI"/>
              </a:rPr>
              <a:t>Дүниежүзінде Kaspi, eGov, халық
пирамидалары, KZ госзакупки
fraud-ды бір жерде детектілейтін
жалғыз инструмент.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480560"/>
            <a:ext cx="3383280" cy="685800"/>
          </a:xfrm>
          <a:prstGeom prst="rect">
            <a:avLst/>
          </a:prstGeom>
          <a:solidFill>
            <a:srgbClr val="091529"/>
          </a:solidFill>
          <a:ln w="9525">
            <a:solidFill>
              <a:srgbClr val="1D41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535424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💡 VirusTotal, PhishTank, Kaspersky —
бірі де KZ-ға арналмаған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371600"/>
            <a:ext cx="3749039" cy="4937760"/>
          </a:xfrm>
          <a:prstGeom prst="rect">
            <a:avLst/>
          </a:prstGeom>
          <a:solidFill>
            <a:srgbClr val="0D14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39" y="14630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513403"/>
                </a:solidFill>
                <a:latin typeface="Segoe U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39" y="2103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  <a:latin typeface="Segoe UI"/>
              </a:rPr>
              <a:t>ӘЛЕУМЕТТІК ИМПАКТ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39" y="2560320"/>
            <a:ext cx="33832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39" y="269748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8FAFC"/>
                </a:solidFill>
                <a:latin typeface="Segoe UI"/>
              </a:rPr>
              <a:t>₸500 млрд+ жыл сайын
госзакупкилерде жоғалады.
Фишинг — миллиардтаған теңге
азаматтардың картасынан.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39" y="4480560"/>
            <a:ext cx="3383280" cy="685800"/>
          </a:xfrm>
          <a:prstGeom prst="rect">
            <a:avLst/>
          </a:prstGeom>
          <a:solidFill>
            <a:srgbClr val="281A01"/>
          </a:solidFill>
          <a:ln w="9525">
            <a:solidFill>
              <a:srgbClr val="7A4F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1999" y="4535424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💡 Жюри «мемлекет проблемасын
шешу» деп бағалайды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599" y="1371600"/>
            <a:ext cx="3749039" cy="4937760"/>
          </a:xfrm>
          <a:prstGeom prst="rect">
            <a:avLst/>
          </a:prstGeom>
          <a:solidFill>
            <a:srgbClr val="0D14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9" y="14630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53D2B"/>
                </a:solidFill>
                <a:latin typeface="Segoe U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9" y="2103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  <a:latin typeface="Segoe UI"/>
              </a:rPr>
              <a:t>СУВЕРЕНДІЛІК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79" y="2560320"/>
            <a:ext cx="33832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9" y="269748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8FAFC"/>
                </a:solidFill>
                <a:latin typeface="Segoe UI"/>
              </a:rPr>
              <a:t>KazGPT интеграциясы = KZ
азаматтарының деректері
АҚШ/Еуропа серверлеріне
бармайды. On-prem деплой.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79" y="4480560"/>
            <a:ext cx="3383280" cy="685800"/>
          </a:xfrm>
          <a:prstGeom prst="rect">
            <a:avLst/>
          </a:prstGeom>
          <a:solidFill>
            <a:srgbClr val="021E15"/>
          </a:solidFill>
          <a:ln w="9525">
            <a:solidFill>
              <a:srgbClr val="085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39" y="4535424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💡 Ұлттық конкурста саяси
күшті аргумент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440680"/>
            <a:ext cx="11640312" cy="1097280"/>
          </a:xfrm>
          <a:prstGeom prst="rect">
            <a:avLst/>
          </a:prstGeom>
          <a:solidFill>
            <a:srgbClr val="08121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5321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  <a:latin typeface="Segoe UI"/>
              </a:rPr>
              <a:t>САЛЫСТЫРУ: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20240" y="5486400"/>
            <a:ext cx="2651760" cy="96012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11680" y="5532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Segoe UI"/>
              </a:rPr>
              <a:t>Kaspersky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58978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Орыс өнімі, жалпы мақсат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5486400"/>
            <a:ext cx="2651760" cy="96012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0" y="5532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Segoe UI"/>
              </a:rPr>
              <a:t>VirusTotal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58978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Google, KZ-ге мамандалмаған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5486400"/>
            <a:ext cx="2651760" cy="960120"/>
          </a:xfrm>
          <a:prstGeom prst="rect">
            <a:avLst/>
          </a:prstGeom>
          <a:solidFill>
            <a:srgbClr val="0D142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0" y="5532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Segoe UI"/>
              </a:rPr>
              <a:t>PhishTank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58978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Тек фишинг, KZ жоқ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424160" y="5486400"/>
            <a:ext cx="2651760" cy="960120"/>
          </a:xfrm>
          <a:prstGeom prst="rect">
            <a:avLst/>
          </a:prstGeom>
          <a:solidFill>
            <a:srgbClr val="051810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0" y="5532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Segoe UI"/>
              </a:rPr>
              <a:t>Qalqan 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8978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KZ үшін, KZ тілінде 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5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Segoe UI"/>
              </a:rPr>
              <a:t>🛡️ QALQAN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Segoe UI"/>
              </a:rPr>
              <a:t>ПРИОРИТЕТТЕР — ЕГЕР УАҚЫТ АЗ БОЛСА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15568"/>
            <a:ext cx="8229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3444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Segoe UI"/>
              </a:rPr>
              <a:t>Тек 3 фича таңдасаң — мыналар: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91640"/>
            <a:ext cx="3749039" cy="4846320"/>
          </a:xfrm>
          <a:prstGeom prst="rect">
            <a:avLst/>
          </a:prstGeom>
          <a:solidFill>
            <a:srgbClr val="0D14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691640"/>
            <a:ext cx="3749039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7373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8FAFC"/>
                </a:solidFill>
                <a:latin typeface="Segoe UI"/>
              </a:rPr>
              <a:t>#1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7373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Segoe UI"/>
              </a:rPr>
              <a:t>TELEGRAM BOT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95728"/>
            <a:ext cx="3383280" cy="502920"/>
          </a:xfrm>
          <a:prstGeom prst="rect">
            <a:avLst/>
          </a:prstGeom>
          <a:solidFill>
            <a:srgbClr val="311F02"/>
          </a:solidFill>
          <a:ln w="6350">
            <a:solidFill>
              <a:srgbClr val="7A4F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43230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9E0B"/>
                </a:solidFill>
                <a:latin typeface="Segoe UI"/>
              </a:rPr>
              <a:t>Орнату жылдамдығы: 2 апта
python-telegram-bot + webhook Vercel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10896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9992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AFC"/>
                </a:solidFill>
                <a:latin typeface="Segoe UI"/>
              </a:rPr>
              <a:t>Жасалуы оңай — бір апта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58444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4747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AFC"/>
                </a:solidFill>
                <a:latin typeface="Segoe UI"/>
              </a:rPr>
              <a:t>Mass аудитория мгновенно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4059936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9502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AFC"/>
                </a:solidFill>
                <a:latin typeface="Segoe UI"/>
              </a:rPr>
              <a:t>Демонстрацияда жарқырайды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453542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442569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AFC"/>
                </a:solidFill>
                <a:latin typeface="Segoe UI"/>
              </a:rPr>
              <a:t>80% KZ = Telegram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59" y="1691640"/>
            <a:ext cx="3749039" cy="4846320"/>
          </a:xfrm>
          <a:prstGeom prst="rect">
            <a:avLst/>
          </a:prstGeom>
          <a:solidFill>
            <a:srgbClr val="0D1426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59" y="1691640"/>
            <a:ext cx="3749039" cy="594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19" y="17373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8FAFC"/>
                </a:solidFill>
                <a:latin typeface="Segoe UI"/>
              </a:rPr>
              <a:t>#2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79" y="17373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Segoe UI"/>
              </a:rPr>
              <a:t>ГОСЗАКУПКИ МОДУЛЬ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39" y="2395728"/>
            <a:ext cx="3383280" cy="502920"/>
          </a:xfrm>
          <a:prstGeom prst="rect">
            <a:avLst/>
          </a:prstGeom>
          <a:solidFill>
            <a:srgbClr val="2F0D0D"/>
          </a:solidFill>
          <a:ln w="6350">
            <a:solidFill>
              <a:srgbClr val="77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44567" y="243230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Segoe UI"/>
              </a:rPr>
              <a:t>Орнату жылдамдығы: 3-4 апта
goszakup.gov.kz API + NetworkX</a:t>
            </a:r>
          </a:p>
        </p:txBody>
      </p:sp>
      <p:sp>
        <p:nvSpPr>
          <p:cNvPr id="28" name="Oval 27"/>
          <p:cNvSpPr/>
          <p:nvPr/>
        </p:nvSpPr>
        <p:spPr>
          <a:xfrm>
            <a:off x="4434839" y="310896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1" y="29992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AFC"/>
                </a:solidFill>
                <a:latin typeface="Segoe UI"/>
              </a:rPr>
              <a:t>Ешкімде жоқ — уникальды</a:t>
            </a:r>
          </a:p>
        </p:txBody>
      </p:sp>
      <p:sp>
        <p:nvSpPr>
          <p:cNvPr id="30" name="Oval 29"/>
          <p:cNvSpPr/>
          <p:nvPr/>
        </p:nvSpPr>
        <p:spPr>
          <a:xfrm>
            <a:off x="4434839" y="3584448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99431" y="34747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AFC"/>
                </a:solidFill>
                <a:latin typeface="Segoe UI"/>
              </a:rPr>
              <a:t>₸500 млрд проблема шешеді</a:t>
            </a:r>
          </a:p>
        </p:txBody>
      </p:sp>
      <p:sp>
        <p:nvSpPr>
          <p:cNvPr id="32" name="Oval 31"/>
          <p:cNvSpPr/>
          <p:nvPr/>
        </p:nvSpPr>
        <p:spPr>
          <a:xfrm>
            <a:off x="4434839" y="4059936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9431" y="39502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AFC"/>
                </a:solidFill>
                <a:latin typeface="Segoe UI"/>
              </a:rPr>
              <a:t>Граф демо = жюри шок</a:t>
            </a:r>
          </a:p>
        </p:txBody>
      </p:sp>
      <p:sp>
        <p:nvSpPr>
          <p:cNvPr id="34" name="Oval 33"/>
          <p:cNvSpPr/>
          <p:nvPr/>
        </p:nvSpPr>
        <p:spPr>
          <a:xfrm>
            <a:off x="4434839" y="4535424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99431" y="442569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AFC"/>
                </a:solidFill>
                <a:latin typeface="Segoe UI"/>
              </a:rPr>
              <a:t>Мемлекеттік маңыздылық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599" y="1691640"/>
            <a:ext cx="3749039" cy="4846320"/>
          </a:xfrm>
          <a:prstGeom prst="rect">
            <a:avLst/>
          </a:prstGeom>
          <a:solidFill>
            <a:srgbClr val="0D14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599" y="1691640"/>
            <a:ext cx="3749039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59" y="17373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8FAFC"/>
                </a:solidFill>
                <a:latin typeface="Segoe UI"/>
              </a:rPr>
              <a:t>#3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19" y="17373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Segoe UI"/>
              </a:rPr>
              <a:t>KZ THREAT REPORT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79" y="2395728"/>
            <a:ext cx="3383280" cy="502920"/>
          </a:xfrm>
          <a:prstGeom prst="rect">
            <a:avLst/>
          </a:prstGeom>
          <a:solidFill>
            <a:srgbClr val="032519"/>
          </a:solidFill>
          <a:ln w="6350">
            <a:solidFill>
              <a:srgbClr val="085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22207" y="243230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0B981"/>
                </a:solidFill>
                <a:latin typeface="Segoe UI"/>
              </a:rPr>
              <a:t>Орнату жылдамдығы: 1 апта
Жиналған деректер + PDF</a:t>
            </a:r>
          </a:p>
        </p:txBody>
      </p:sp>
      <p:sp>
        <p:nvSpPr>
          <p:cNvPr id="42" name="Oval 41"/>
          <p:cNvSpPr/>
          <p:nvPr/>
        </p:nvSpPr>
        <p:spPr>
          <a:xfrm>
            <a:off x="8412479" y="310896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77071" y="29992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AFC"/>
                </a:solidFill>
                <a:latin typeface="Segoe UI"/>
              </a:rPr>
              <a:t>1 аптада жасалады</a:t>
            </a:r>
          </a:p>
        </p:txBody>
      </p:sp>
      <p:sp>
        <p:nvSpPr>
          <p:cNvPr id="44" name="Oval 43"/>
          <p:cNvSpPr/>
          <p:nvPr/>
        </p:nvSpPr>
        <p:spPr>
          <a:xfrm>
            <a:off x="8412479" y="3584448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77071" y="34747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AFC"/>
                </a:solidFill>
                <a:latin typeface="Segoe UI"/>
              </a:rPr>
              <a:t>Академиялық авторитет</a:t>
            </a:r>
          </a:p>
        </p:txBody>
      </p:sp>
      <p:sp>
        <p:nvSpPr>
          <p:cNvPr id="46" name="Oval 45"/>
          <p:cNvSpPr/>
          <p:nvPr/>
        </p:nvSpPr>
        <p:spPr>
          <a:xfrm>
            <a:off x="8412479" y="4059936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77071" y="39502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AFC"/>
                </a:solidFill>
                <a:latin typeface="Segoe UI"/>
              </a:rPr>
              <a:t>Деректер = сенімділік</a:t>
            </a:r>
          </a:p>
        </p:txBody>
      </p:sp>
      <p:sp>
        <p:nvSpPr>
          <p:cNvPr id="48" name="Oval 47"/>
          <p:cNvSpPr/>
          <p:nvPr/>
        </p:nvSpPr>
        <p:spPr>
          <a:xfrm>
            <a:off x="8412479" y="4535424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77071" y="442569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AFC"/>
                </a:solidFill>
                <a:latin typeface="Segoe UI"/>
              </a:rPr>
              <a:t>Жюри PDF-ті сүйеді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6400800"/>
            <a:ext cx="11640312" cy="347472"/>
          </a:xfrm>
          <a:prstGeom prst="rect">
            <a:avLst/>
          </a:prstGeom>
          <a:solidFill>
            <a:srgbClr val="05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400800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0A5FA"/>
                </a:solidFill>
                <a:latin typeface="Segoe UI"/>
              </a:rPr>
              <a:t>🚀  Маусымда бастаймыз → Telegram Bot + Госзакупки → Тамызда финалда жеңіс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